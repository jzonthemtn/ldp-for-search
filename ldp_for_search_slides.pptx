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 documents aloud. They fit in one breath. Then run section 9 and let the raw result speak. Do not rush this, it is the hinge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centred on the truth.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Volunteer the weakness before anyone asks. This buys credibility for Part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yourself. If it comes out in Q&amp;A instead, the talk loses. Volunteering it is what makes Part 5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to the red line first and stay there. That is the demo from Part 2, with the top hit correct 7 percent of the time against a 5 percent baseline, and the top five 45 against 25. Barely above guessing, which is the confession from the previous slide made visible. Then sweep right to make the second point, that utility only returns as epsilon rises, and by then the attacker is reading the query too. Note the curves rise here where slide 15's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This is the payoff and the answer to Part 4. Give it the most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no cohort member sends a readable query, and the server does the aggregation on noised vectors only. There is no trusted intermediate step.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recovery runs at roughly 1x to 2.5x chance, which is not usable. Aggregate recovery is exact. Same data, same epsilon, two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centrepiece. Measured error tracks theory across four orders of magnitude. Point at the crossing with the red line,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2,500 is where the measured error crosses the spread of the index, 0.128, on the convergence plot. It is not a constant: error goes as one over epsilon times one over root n, so the threshold scales as one over epsilon squared. At epsilon 0.5 it is 10,000 users, at epsilon 2 it is about 625.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Keeping relevance work alive when you cannot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Independent consultant, Mountain Fog</a:t>
            </a:r>
          </a:p>
          <a:p>
            <a:pPr marL="342900" indent="-342900">
              <a:spcAft>
                <a:spcPts val="2000"/>
              </a:spcAft>
            </a:pPr>
            <a:r>
              <a:rPr sz="2400" b="1">
                <a:solidFill>
                  <a:srgbClr val="005EB8"/>
                </a:solidFill>
                <a:latin typeface="Helvetica Neue"/>
              </a:rPr>
              <a:t>-   </a:t>
            </a:r>
            <a:r>
              <a:rPr sz="2400" b="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a:solidFill>
                  <a:srgbClr val="141B2D"/>
                </a:solidFill>
                <a:latin typeface="Helvetica Neue"/>
              </a:rPr>
              <a:t>PII redaction tooling at Philterd</a:t>
            </a:r>
          </a:p>
          <a:p>
            <a:pPr marL="342900" indent="-342900">
              <a:spcAft>
                <a:spcPts val="2000"/>
              </a:spcAft>
            </a:pPr>
            <a:r>
              <a:rPr sz="2400" b="1">
                <a:solidFill>
                  <a:srgbClr val="005EB8"/>
                </a:solidFill>
                <a:latin typeface="Helvetica Neue"/>
              </a:rPr>
              <a:t>-   </a:t>
            </a:r>
            <a:r>
              <a:rPr sz="2400" b="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blocker</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Relevance work is empirical, not theoretical</a:t>
            </a:r>
          </a:p>
          <a:p>
            <a:pPr marL="342900" indent="-342900">
              <a:spcAft>
                <a:spcPts val="1400"/>
              </a:spcAft>
            </a:pPr>
            <a:r>
              <a:rPr sz="2100" b="1">
                <a:solidFill>
                  <a:srgbClr val="005EB8"/>
                </a:solidFill>
                <a:latin typeface="Helvetica Neue"/>
              </a:rPr>
              <a:t>-   </a:t>
            </a:r>
            <a:r>
              <a:rPr sz="2100" b="0">
                <a:solidFill>
                  <a:srgbClr val="141B2D"/>
                </a:solidFill>
                <a:latin typeface="Helvetica Neue"/>
              </a:rPr>
              <a:t>Which queries fire, which results get clicked, at which position</a:t>
            </a:r>
          </a:p>
          <a:p>
            <a:pPr marL="342900" indent="-342900">
              <a:spcAft>
                <a:spcPts val="1400"/>
              </a:spcAft>
            </a:pPr>
            <a:r>
              <a:rPr sz="2100" b="1">
                <a:solidFill>
                  <a:srgbClr val="005EB8"/>
                </a:solidFill>
                <a:latin typeface="Helvetica Neue"/>
              </a:rPr>
              <a:t>-   </a:t>
            </a:r>
            <a:r>
              <a:rPr sz="2100" b="0">
                <a:solidFill>
                  <a:srgbClr val="141B2D"/>
                </a:solidFill>
                <a:latin typeface="Helvetica Neue"/>
              </a:rPr>
              <a:t>Learning-to-rank trains on exactly this signal</a:t>
            </a:r>
          </a:p>
          <a:p>
            <a:pPr marL="342900" indent="-342900">
              <a:spcAft>
                <a:spcPts val="1400"/>
              </a:spcAft>
            </a:pPr>
            <a:r>
              <a:rPr sz="2100" b="1">
                <a:solidFill>
                  <a:srgbClr val="005EB8"/>
                </a:solidFill>
                <a:latin typeface="Helvetica Neue"/>
              </a:rPr>
              <a:t>-   </a:t>
            </a:r>
            <a:r>
              <a:rPr sz="2100" b="0">
                <a:solidFill>
                  <a:srgbClr val="141B2D"/>
                </a:solidFill>
                <a:latin typeface="Helvetica Neue"/>
              </a:rPr>
              <a:t>Without it you are guessing, and shipping guesses to production</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a:solidFill>
                  <a:srgbClr val="141B2D"/>
                </a:solidFill>
                <a:latin typeface="Helvetica Neue"/>
              </a:rPr>
              <a:t>This is the raw material relevance tuning runs on</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Then legal reads the schema</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a:solidFill>
                  <a:srgbClr val="141B2D"/>
                </a:solidFill>
                <a:latin typeface="Helvetica Neue"/>
              </a:rPr>
              <a:t> is free text a person typed. It can contain anything</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a:solidFill>
                  <a:srgbClr val="141B2D"/>
                </a:solidFill>
                <a:latin typeface="Helvetica Neue"/>
              </a:rPr>
              <a:t> and </a:t>
            </a:r>
            <a:r>
              <a:rPr sz="2200" b="0">
                <a:solidFill>
                  <a:srgbClr val="141B2D"/>
                </a:solidFill>
                <a:latin typeface="Consolas"/>
              </a:rPr>
              <a:t>session_id</a:t>
            </a:r>
            <a:r>
              <a:rPr sz="2400" b="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a:solidFill>
                  <a:srgbClr val="141B2D"/>
                </a:solidFill>
                <a:latin typeface="Helvetica Neue"/>
              </a:rPr>
              <a:t>In healthcare and finance, that combination is a hard stop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Zero-trust stopped being a buzzword and became a blocker to relevance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by construction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a:solidFill>
                  <a:srgbClr val="141B2D"/>
                </a:solidFill>
                <a:latin typeface="Helvetica Neue"/>
              </a:rPr>
              <a:t>You discover the failure after the fact, if at all</a:t>
            </a:r>
          </a:p>
          <a:p>
            <a:pPr marL="342900" indent="-342900">
              <a:spcAft>
                <a:spcPts val="1400"/>
              </a:spcAft>
            </a:pPr>
            <a:r>
              <a:rPr sz="2100" b="1">
                <a:solidFill>
                  <a:srgbClr val="005EB8"/>
                </a:solidFill>
                <a:latin typeface="Helvetica Neue"/>
              </a:rPr>
              <a:t>-   </a:t>
            </a:r>
            <a:r>
              <a:rPr sz="2100" b="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feels private. It is a vector of floats, not words</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is not private. It is a lossy encoding</a:t>
            </a:r>
          </a:p>
          <a:p>
            <a:pPr marL="342900" indent="-342900">
              <a:spcAft>
                <a:spcPts val="1400"/>
              </a:spcAft>
            </a:pPr>
            <a:r>
              <a:rPr sz="2100" b="1">
                <a:solidFill>
                  <a:srgbClr val="005EB8"/>
                </a:solidFill>
                <a:latin typeface="Helvetica Neue"/>
              </a:rPr>
              <a:t>-   </a:t>
            </a:r>
            <a:r>
              <a:rPr sz="2100" b="0">
                <a:solidFill>
                  <a:srgbClr val="141B2D"/>
                </a:solidFill>
                <a:latin typeface="Helvetica Neue"/>
              </a:rPr>
              <a:t>Vector inversion recovers the intent</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invert a raw query vector</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sections 1 to 6, then section 9</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No text was stored, and the intent leaked anyway</a:t>
            </a:r>
          </a:p>
          <a:p>
            <a:pPr marL="342900" indent="-342900">
              <a:spcAft>
                <a:spcPts val="2000"/>
              </a:spcAft>
            </a:pPr>
            <a:r>
              <a:rPr sz="2400" b="1">
                <a:solidFill>
                  <a:srgbClr val="B4311A"/>
                </a:solidFill>
                <a:latin typeface="Helvetica Neue"/>
              </a:rPr>
              <a:t>-   </a:t>
            </a:r>
            <a:r>
              <a:rPr sz="2400" b="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mechanism, and how to verify it</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 in one slide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a:solidFill>
                  <a:srgbClr val="141B2D"/>
                </a:solidFill>
                <a:latin typeface="Helvetica Neue"/>
              </a:rPr>
              <a:t>Noise scale = sensitivity / epsilon</a:t>
            </a:r>
          </a:p>
          <a:p>
            <a:pPr marL="342900" indent="-342900">
              <a:spcAft>
                <a:spcPts val="1400"/>
              </a:spcAft>
            </a:pPr>
            <a:r>
              <a:rPr sz="2100" b="1">
                <a:solidFill>
                  <a:srgbClr val="005EB8"/>
                </a:solidFill>
                <a:latin typeface="Helvetica Neue"/>
              </a:rPr>
              <a:t>-   </a:t>
            </a:r>
            <a:r>
              <a:rPr sz="2100" b="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cluster never receives a readable query, so there is nothing to scrub</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 is what we claim</a:t>
            </a:r>
          </a:p>
        </p:txBody>
      </p:sp>
      <p:pic>
        <p:nvPicPr>
          <p:cNvPr id="3" name="Picture 2" descr="08_laplace_tent_audit.png"/>
          <p:cNvPicPr>
            <a:picLocks noChangeAspect="1"/>
          </p:cNvPicPr>
          <p:nvPr/>
        </p:nvPicPr>
        <p:blipFill>
          <a:blip r:embed="rId2"/>
          <a:stretch>
            <a:fillRect/>
          </a:stretch>
        </p:blipFill>
        <p:spPr>
          <a:xfrm>
            <a:off x="2155300" y="1417320"/>
            <a:ext cx="7881094"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peak sits on the true value, and the width of the tent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87714" y="1417320"/>
            <a:ext cx="7216267"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category leaks well before the item does. At epsilon 1, neither is recoverable.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What it costs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That first demo was rigged</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It ran at epsilon 1.2 on a 20 document index</a:t>
            </a:r>
          </a:p>
          <a:p>
            <a:pPr marL="342900" indent="-342900">
              <a:spcAft>
                <a:spcPts val="2000"/>
              </a:spcAft>
            </a:pPr>
            <a:r>
              <a:rPr sz="2400" b="1">
                <a:solidFill>
                  <a:srgbClr val="B4311A"/>
                </a:solidFill>
                <a:latin typeface="Helvetica Neue"/>
              </a:rPr>
              <a:t>-   </a:t>
            </a:r>
            <a:r>
              <a:rPr sz="2400" b="0">
                <a:solidFill>
                  <a:srgbClr val="141B2D"/>
                </a:solidFill>
                <a:latin typeface="Helvetica Neue"/>
              </a:rPr>
              <a:t>Privacy was excellent. Utility was destroyed</a:t>
            </a:r>
          </a:p>
          <a:p>
            <a:pPr marL="342900" indent="-342900">
              <a:spcAft>
                <a:spcPts val="2000"/>
              </a:spcAft>
            </a:pPr>
            <a:r>
              <a:rPr sz="2400" b="1">
                <a:solidFill>
                  <a:srgbClr val="B4311A"/>
                </a:solidFill>
                <a:latin typeface="Helvetica Neue"/>
              </a:rPr>
              <a:t>-   </a:t>
            </a:r>
            <a:r>
              <a:rPr sz="2400" b="0">
                <a:solidFill>
                  <a:srgbClr val="141B2D"/>
                </a:solidFill>
                <a:latin typeface="Helvetica Neue"/>
              </a:rPr>
              <a:t>P@1 of 0.07 against a random baseline of 0.05</a:t>
            </a:r>
          </a:p>
          <a:p>
            <a:pPr marL="342900" indent="-342900">
              <a:spcAft>
                <a:spcPts val="2000"/>
              </a:spcAft>
            </a:pPr>
            <a:r>
              <a:rPr sz="2400" b="1">
                <a:solidFill>
                  <a:srgbClr val="B4311A"/>
                </a:solidFill>
                <a:latin typeface="Helvetica Neue"/>
              </a:rPr>
              <a:t>-   </a:t>
            </a:r>
            <a:r>
              <a:rPr sz="2400" b="0">
                <a:solidFill>
                  <a:srgbClr val="141B2D"/>
                </a:solidFill>
                <a:latin typeface="Helvetica Neue"/>
              </a:rPr>
              <a:t>The attacker learned nothing, and neither did the user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At epsilon 1.2, barely better than guessing</a:t>
            </a:r>
          </a:p>
        </p:txBody>
      </p:sp>
      <p:pic>
        <p:nvPicPr>
          <p:cNvPr id="3" name="Picture 2" descr="07_epsilon_tradeoff_toy_index.png"/>
          <p:cNvPicPr>
            <a:picLocks noChangeAspect="1"/>
          </p:cNvPicPr>
          <p:nvPr/>
        </p:nvPicPr>
        <p:blipFill>
          <a:blip r:embed="rId2"/>
          <a:stretch>
            <a:fillRect/>
          </a:stretch>
        </p:blipFill>
        <p:spPr>
          <a:xfrm>
            <a:off x="2192782" y="1417320"/>
            <a:ext cx="7806131"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red line is where the first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5</a:t>
            </a:r>
          </a:p>
          <a:p>
            <a:pPr>
              <a:spcBef>
                <a:spcPts val="1000"/>
              </a:spcBef>
            </a:pPr>
            <a:r>
              <a:rPr sz="4200" b="1">
                <a:solidFill>
                  <a:srgbClr val="FFFFFF"/>
                </a:solidFill>
                <a:latin typeface="Helvetica Neue"/>
              </a:rPr>
              <a:t>What you keep</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asymmetry is the whole point</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Laplace noise is zero-mean</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cancels when you average over many independent users</a:t>
            </a:r>
          </a:p>
          <a:p>
            <a:pPr marL="342900" indent="-342900">
              <a:spcAft>
                <a:spcPts val="1400"/>
              </a:spcAft>
            </a:pPr>
            <a:r>
              <a:rPr sz="2100" b="1">
                <a:solidFill>
                  <a:srgbClr val="005EB8"/>
                </a:solidFill>
                <a:latin typeface="Helvetica Neue"/>
              </a:rPr>
              <a:t>-   </a:t>
            </a:r>
            <a:r>
              <a:rPr sz="2100" b="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trend across ten thousand people is not</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cohorts of real users</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 11</a:t>
            </a:r>
          </a:p>
          <a:p>
            <a:pPr>
              <a:spcAft>
                <a:spcPts val="1200"/>
              </a:spcAft>
            </a:pPr>
            <a:r>
              <a:rPr sz="2200" b="0">
                <a:solidFill>
                  <a:srgbClr val="B8C2D4"/>
                </a:solidFill>
                <a:latin typeface="Helvetica Neue"/>
              </a:rPr>
              <a:t>480 real WANDS queries, grouped into 5 cohorts</a:t>
            </a:r>
          </a:p>
          <a:p>
            <a:pPr>
              <a:spcAft>
                <a:spcPts val="1200"/>
              </a:spcAft>
            </a:pPr>
            <a:r>
              <a:rPr sz="2200" b="0">
                <a:solidFill>
                  <a:srgbClr val="B8C2D4"/>
                </a:solidFill>
                <a:latin typeface="Helvetica Neue"/>
              </a:rPr>
              <a:t>Every user privatizes independently, on their own device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Individuals hide. The crowd does not.</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1523847" y="2103120"/>
          <a:ext cx="9144000" cy="3401568"/>
        </p:xfrm>
        <a:graphic>
          <a:graphicData uri="http://schemas.openxmlformats.org/drawingml/2006/table">
            <a:tbl>
              <a:tblPr firstRow="1" bandRow="1">
                <a:tableStyleId>{5C22544A-7EE6-4342-B048-85BDC9FD1C3A}</a:tableStyleId>
              </a:tblPr>
              <a:tblGrid>
                <a:gridCol w="2286000"/>
                <a:gridCol w="2286000"/>
                <a:gridCol w="2286000"/>
                <a:gridCol w="2286000"/>
              </a:tblGrid>
              <a:tr h="566928">
                <a:tc>
                  <a:txBody>
                    <a:bodyPr/>
                    <a:lstStyle/>
                    <a:p>
                      <a:pPr algn="l"/>
                      <a:r>
                        <a:rPr sz="1800" b="1">
                          <a:solidFill>
                            <a:srgbClr val="FFFFFF"/>
                          </a:solidFill>
                          <a:latin typeface="Helvetica Neue"/>
                        </a:rPr>
                        <a:t>cohort</a:t>
                      </a:r>
                    </a:p>
                  </a:txBody>
                  <a:tcPr anchor="ctr">
                    <a:solidFill>
                      <a:srgbClr val="005EB8"/>
                    </a:solidFill>
                  </a:tcPr>
                </a:tc>
                <a:tc>
                  <a:txBody>
                    <a:bodyPr/>
                    <a:lstStyle/>
                    <a:p>
                      <a:pPr algn="ctr"/>
                      <a:r>
                        <a:rPr sz="1800" b="1">
                          <a:solidFill>
                            <a:srgbClr val="FFFFFF"/>
                          </a:solidFill>
                          <a:latin typeface="Helvetica Neue"/>
                        </a:rPr>
                        <a:t>individual</a:t>
                      </a:r>
                    </a:p>
                  </a:txBody>
                  <a:tcPr anchor="ctr">
                    <a:solidFill>
                      <a:srgbClr val="005EB8"/>
                    </a:solidFill>
                  </a:tcPr>
                </a:tc>
                <a:tc>
                  <a:txBody>
                    <a:bodyPr/>
                    <a:lstStyle/>
                    <a:p>
                      <a:pPr algn="ctr"/>
                      <a:r>
                        <a:rPr sz="1800" b="1">
                          <a:solidFill>
                            <a:srgbClr val="FFFFFF"/>
                          </a:solidFill>
                          <a:latin typeface="Helvetica Neue"/>
                        </a:rPr>
                        <a:t>chance</a:t>
                      </a:r>
                    </a:p>
                  </a:txBody>
                  <a:tcPr anchor="ctr">
                    <a:solidFill>
                      <a:srgbClr val="005EB8"/>
                    </a:solidFill>
                  </a:tcPr>
                </a:tc>
                <a:tc>
                  <a:txBody>
                    <a:bodyPr/>
                    <a:lstStyle/>
                    <a:p>
                      <a:pPr algn="ctr"/>
                      <a:r>
                        <a:rPr sz="1800" b="1">
                          <a:solidFill>
                            <a:srgbClr val="FFFFFF"/>
                          </a:solidFill>
                          <a:latin typeface="Helvetica Neue"/>
                        </a:rPr>
                        <a:t>cohort ID</a:t>
                      </a:r>
                    </a:p>
                  </a:txBody>
                  <a:tcPr anchor="ctr">
                    <a:solidFill>
                      <a:srgbClr val="005EB8"/>
                    </a:solidFill>
                  </a:tcPr>
                </a:tc>
              </a:tr>
              <a:tr h="566928">
                <a:tc>
                  <a:txBody>
                    <a:bodyPr/>
                    <a:lstStyle/>
                    <a:p>
                      <a:pPr algn="l"/>
                      <a:r>
                        <a:rPr sz="1800" b="0">
                          <a:solidFill>
                            <a:srgbClr val="141B2D"/>
                          </a:solidFill>
                          <a:latin typeface="Helvetica Neue"/>
                        </a:rPr>
                        <a:t>Wall Art</a:t>
                      </a:r>
                    </a:p>
                  </a:txBody>
                  <a:tcPr anchor="ctr">
                    <a:solidFill>
                      <a:srgbClr val="F4F7FB"/>
                    </a:solidFill>
                  </a:tcPr>
                </a:tc>
                <a:tc>
                  <a:txBody>
                    <a:bodyPr/>
                    <a:lstStyle/>
                    <a:p>
                      <a:pPr algn="ctr"/>
                      <a:r>
                        <a:rPr sz="1800" b="0">
                          <a:solidFill>
                            <a:srgbClr val="141B2D"/>
                          </a:solidFill>
                          <a:latin typeface="Helvetica Neue"/>
                        </a:rPr>
                        <a:t>0.020</a:t>
                      </a:r>
                    </a:p>
                  </a:txBody>
                  <a:tcPr anchor="ctr">
                    <a:solidFill>
                      <a:srgbClr val="F4F7FB"/>
                    </a:solidFill>
                  </a:tcPr>
                </a:tc>
                <a:tc>
                  <a:txBody>
                    <a:bodyPr/>
                    <a:lstStyle/>
                    <a:p>
                      <a:pPr algn="ctr"/>
                      <a:r>
                        <a:rPr sz="1800" b="0">
                          <a:solidFill>
                            <a:srgbClr val="141B2D"/>
                          </a:solidFill>
                          <a:latin typeface="Helvetica Neue"/>
                        </a:rPr>
                        <a:t>0.014</a:t>
                      </a:r>
                    </a:p>
                  </a:txBody>
                  <a:tcPr anchor="ctr">
                    <a:solidFill>
                      <a:srgbClr val="F4F7FB"/>
                    </a:solidFill>
                  </a:tcPr>
                </a:tc>
                <a:tc>
                  <a:txBody>
                    <a:bodyPr/>
                    <a:lstStyle/>
                    <a:p>
                      <a:pPr algn="ctr"/>
                      <a:r>
                        <a:rPr sz="1800" b="0">
                          <a:solidFill>
                            <a:srgbClr val="141B2D"/>
                          </a:solidFill>
                          <a:latin typeface="Helvetica Neue"/>
                        </a:rPr>
                        <a:t>OK</a:t>
                      </a:r>
                    </a:p>
                  </a:txBody>
                  <a:tcPr anchor="ctr">
                    <a:solidFill>
                      <a:srgbClr val="F4F7FB"/>
                    </a:solidFill>
                  </a:tcPr>
                </a:tc>
              </a:tr>
              <a:tr h="566928">
                <a:tc>
                  <a:txBody>
                    <a:bodyPr/>
                    <a:lstStyle/>
                    <a:p>
                      <a:pPr algn="l"/>
                      <a:r>
                        <a:rPr sz="1800" b="0">
                          <a:solidFill>
                            <a:srgbClr val="141B2D"/>
                          </a:solidFill>
                          <a:latin typeface="Helvetica Neue"/>
                        </a:rPr>
                        <a:t>Accent Chairs</a:t>
                      </a:r>
                    </a:p>
                  </a:txBody>
                  <a:tcPr anchor="ctr">
                    <a:solidFill>
                      <a:srgbClr val="FFFFFF"/>
                    </a:solidFill>
                  </a:tcPr>
                </a:tc>
                <a:tc>
                  <a:txBody>
                    <a:bodyPr/>
                    <a:lstStyle/>
                    <a:p>
                      <a:pPr algn="ctr"/>
                      <a:r>
                        <a:rPr sz="1800" b="0">
                          <a:solidFill>
                            <a:srgbClr val="141B2D"/>
                          </a:solidFill>
                          <a:latin typeface="Helvetica Neue"/>
                        </a:rPr>
                        <a:t>0.020</a:t>
                      </a:r>
                    </a:p>
                  </a:txBody>
                  <a:tcPr anchor="ctr">
                    <a:solidFill>
                      <a:srgbClr val="FFFFFF"/>
                    </a:solidFill>
                  </a:tcPr>
                </a:tc>
                <a:tc>
                  <a:txBody>
                    <a:bodyPr/>
                    <a:lstStyle/>
                    <a:p>
                      <a:pPr algn="ctr"/>
                      <a:r>
                        <a:rPr sz="1800" b="0">
                          <a:solidFill>
                            <a:srgbClr val="141B2D"/>
                          </a:solidFill>
                          <a:latin typeface="Helvetica Neue"/>
                        </a:rPr>
                        <a:t>0.027</a:t>
                      </a:r>
                    </a:p>
                  </a:txBody>
                  <a:tcPr anchor="ctr">
                    <a:solidFill>
                      <a:srgbClr val="FFFFFF"/>
                    </a:solidFill>
                  </a:tcPr>
                </a:tc>
                <a:tc>
                  <a:txBody>
                    <a:bodyPr/>
                    <a:lstStyle/>
                    <a:p>
                      <a:pPr algn="ctr"/>
                      <a:r>
                        <a:rPr sz="1800" b="0">
                          <a:solidFill>
                            <a:srgbClr val="141B2D"/>
                          </a:solidFill>
                          <a:latin typeface="Helvetica Neue"/>
                        </a:rPr>
                        <a:t>OK</a:t>
                      </a:r>
                    </a:p>
                  </a:txBody>
                  <a:tcPr anchor="ctr">
                    <a:solidFill>
                      <a:srgbClr val="FFFFFF"/>
                    </a:solidFill>
                  </a:tcPr>
                </a:tc>
              </a:tr>
              <a:tr h="566928">
                <a:tc>
                  <a:txBody>
                    <a:bodyPr/>
                    <a:lstStyle/>
                    <a:p>
                      <a:pPr algn="l"/>
                      <a:r>
                        <a:rPr sz="1800" b="0">
                          <a:solidFill>
                            <a:srgbClr val="141B2D"/>
                          </a:solidFill>
                          <a:latin typeface="Helvetica Neue"/>
                        </a:rPr>
                        <a:t>Beds</a:t>
                      </a:r>
                    </a:p>
                  </a:txBody>
                  <a:tcPr anchor="ctr">
                    <a:solidFill>
                      <a:srgbClr val="F4F7FB"/>
                    </a:solidFill>
                  </a:tcPr>
                </a:tc>
                <a:tc>
                  <a:txBody>
                    <a:bodyPr/>
                    <a:lstStyle/>
                    <a:p>
                      <a:pPr algn="ctr"/>
                      <a:r>
                        <a:rPr sz="1800" b="0">
                          <a:solidFill>
                            <a:srgbClr val="141B2D"/>
                          </a:solidFill>
                          <a:latin typeface="Helvetica Neue"/>
                        </a:rPr>
                        <a:t>0.063</a:t>
                      </a:r>
                    </a:p>
                  </a:txBody>
                  <a:tcPr anchor="ctr">
                    <a:solidFill>
                      <a:srgbClr val="F4F7FB"/>
                    </a:solidFill>
                  </a:tcPr>
                </a:tc>
                <a:tc>
                  <a:txBody>
                    <a:bodyPr/>
                    <a:lstStyle/>
                    <a:p>
                      <a:pPr algn="ctr"/>
                      <a:r>
                        <a:rPr sz="1800" b="0">
                          <a:solidFill>
                            <a:srgbClr val="141B2D"/>
                          </a:solidFill>
                          <a:latin typeface="Helvetica Neue"/>
                        </a:rPr>
                        <a:t>0.026</a:t>
                      </a:r>
                    </a:p>
                  </a:txBody>
                  <a:tcPr anchor="ctr">
                    <a:solidFill>
                      <a:srgbClr val="F4F7FB"/>
                    </a:solidFill>
                  </a:tcPr>
                </a:tc>
                <a:tc>
                  <a:txBody>
                    <a:bodyPr/>
                    <a:lstStyle/>
                    <a:p>
                      <a:pPr algn="ctr"/>
                      <a:r>
                        <a:rPr sz="1800" b="0">
                          <a:solidFill>
                            <a:srgbClr val="141B2D"/>
                          </a:solidFill>
                          <a:latin typeface="Helvetica Neue"/>
                        </a:rPr>
                        <a:t>OK</a:t>
                      </a:r>
                    </a:p>
                  </a:txBody>
                  <a:tcPr anchor="ctr">
                    <a:solidFill>
                      <a:srgbClr val="F4F7FB"/>
                    </a:solidFill>
                  </a:tcPr>
                </a:tc>
              </a:tr>
              <a:tr h="566928">
                <a:tc>
                  <a:txBody>
                    <a:bodyPr/>
                    <a:lstStyle/>
                    <a:p>
                      <a:pPr algn="l"/>
                      <a:r>
                        <a:rPr sz="1800" b="0">
                          <a:solidFill>
                            <a:srgbClr val="141B2D"/>
                          </a:solidFill>
                          <a:latin typeface="Helvetica Neue"/>
                        </a:rPr>
                        <a:t>Area Rugs</a:t>
                      </a:r>
                    </a:p>
                  </a:txBody>
                  <a:tcPr anchor="ctr">
                    <a:solidFill>
                      <a:srgbClr val="FFFFFF"/>
                    </a:solidFill>
                  </a:tcPr>
                </a:tc>
                <a:tc>
                  <a:txBody>
                    <a:bodyPr/>
                    <a:lstStyle/>
                    <a:p>
                      <a:pPr algn="ctr"/>
                      <a:r>
                        <a:rPr sz="1800" b="0">
                          <a:solidFill>
                            <a:srgbClr val="141B2D"/>
                          </a:solidFill>
                          <a:latin typeface="Helvetica Neue"/>
                        </a:rPr>
                        <a:t>0.070</a:t>
                      </a:r>
                    </a:p>
                  </a:txBody>
                  <a:tcPr anchor="ctr">
                    <a:solidFill>
                      <a:srgbClr val="FFFFFF"/>
                    </a:solidFill>
                  </a:tcPr>
                </a:tc>
                <a:tc>
                  <a:txBody>
                    <a:bodyPr/>
                    <a:lstStyle/>
                    <a:p>
                      <a:pPr algn="ctr"/>
                      <a:r>
                        <a:rPr sz="1800" b="0">
                          <a:solidFill>
                            <a:srgbClr val="141B2D"/>
                          </a:solidFill>
                          <a:latin typeface="Helvetica Neue"/>
                        </a:rPr>
                        <a:t>0.031</a:t>
                      </a:r>
                    </a:p>
                  </a:txBody>
                  <a:tcPr anchor="ctr">
                    <a:solidFill>
                      <a:srgbClr val="FFFFFF"/>
                    </a:solidFill>
                  </a:tcPr>
                </a:tc>
                <a:tc>
                  <a:txBody>
                    <a:bodyPr/>
                    <a:lstStyle/>
                    <a:p>
                      <a:pPr algn="ctr"/>
                      <a:r>
                        <a:rPr sz="1800" b="0">
                          <a:solidFill>
                            <a:srgbClr val="141B2D"/>
                          </a:solidFill>
                          <a:latin typeface="Helvetica Neue"/>
                        </a:rPr>
                        <a:t>OK</a:t>
                      </a:r>
                    </a:p>
                  </a:txBody>
                  <a:tcPr anchor="ctr">
                    <a:solidFill>
                      <a:srgbClr val="FFFFFF"/>
                    </a:solidFill>
                  </a:tcPr>
                </a:tc>
              </a:tr>
              <a:tr h="566928">
                <a:tc>
                  <a:txBody>
                    <a:bodyPr/>
                    <a:lstStyle/>
                    <a:p>
                      <a:pPr algn="l"/>
                      <a:r>
                        <a:rPr sz="1800" b="0">
                          <a:solidFill>
                            <a:srgbClr val="141B2D"/>
                          </a:solidFill>
                          <a:latin typeface="Helvetica Neue"/>
                        </a:rPr>
                        <a:t>Coffee &amp; Cocktail Tables</a:t>
                      </a:r>
                    </a:p>
                  </a:txBody>
                  <a:tcPr anchor="ctr">
                    <a:solidFill>
                      <a:srgbClr val="F4F7FB"/>
                    </a:solidFill>
                  </a:tcPr>
                </a:tc>
                <a:tc>
                  <a:txBody>
                    <a:bodyPr/>
                    <a:lstStyle/>
                    <a:p>
                      <a:pPr algn="ctr"/>
                      <a:r>
                        <a:rPr sz="1800" b="0">
                          <a:solidFill>
                            <a:srgbClr val="141B2D"/>
                          </a:solidFill>
                          <a:latin typeface="Helvetica Neue"/>
                        </a:rPr>
                        <a:t>0.030</a:t>
                      </a:r>
                    </a:p>
                  </a:txBody>
                  <a:tcPr anchor="ctr">
                    <a:solidFill>
                      <a:srgbClr val="F4F7FB"/>
                    </a:solidFill>
                  </a:tcPr>
                </a:tc>
                <a:tc>
                  <a:txBody>
                    <a:bodyPr/>
                    <a:lstStyle/>
                    <a:p>
                      <a:pPr algn="ctr"/>
                      <a:r>
                        <a:rPr sz="1800" b="0">
                          <a:solidFill>
                            <a:srgbClr val="141B2D"/>
                          </a:solidFill>
                          <a:latin typeface="Helvetica Neue"/>
                        </a:rPr>
                        <a:t>0.025</a:t>
                      </a:r>
                    </a:p>
                  </a:txBody>
                  <a:tcPr anchor="ctr">
                    <a:solidFill>
                      <a:srgbClr val="F4F7FB"/>
                    </a:solidFill>
                  </a:tcPr>
                </a:tc>
                <a:tc>
                  <a:txBody>
                    <a:bodyPr/>
                    <a:lstStyle/>
                    <a:p>
                      <a:pPr algn="ctr"/>
                      <a:r>
                        <a:rPr sz="1800" b="0">
                          <a:solidFill>
                            <a:srgbClr val="141B2D"/>
                          </a:solidFill>
                          <a:latin typeface="Helvetica Neue"/>
                        </a:rPr>
                        <a:t>OK</a:t>
                      </a:r>
                    </a:p>
                  </a:txBody>
                  <a:tcPr anchor="ctr">
                    <a:solidFill>
                      <a:srgbClr val="F4F7FB"/>
                    </a:solidFill>
                  </a:tcPr>
                </a:tc>
              </a:tr>
            </a:tbl>
          </a:graphicData>
        </a:graphic>
      </p:graphicFrame>
      <p:sp>
        <p:nvSpPr>
          <p:cNvPr id="5" name="TextBox 4"/>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epsilon 1.0, heavier noise than anything in Part 4. 20,000 users per cohort. 5 of 5 recovered.</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sqrt(n), exactly as theory says</a:t>
            </a:r>
          </a:p>
        </p:txBody>
      </p:sp>
      <p:pic>
        <p:nvPicPr>
          <p:cNvPr id="3" name="Picture 2" descr="11_aggregate_convergence.png"/>
          <p:cNvPicPr>
            <a:picLocks noChangeAspect="1"/>
          </p:cNvPicPr>
          <p:nvPr/>
        </p:nvPicPr>
        <p:blipFill>
          <a:blip r:embed="rId2"/>
          <a:stretch>
            <a:fillRect/>
          </a:stretch>
        </p:blipFill>
        <p:spPr>
          <a:xfrm>
            <a:off x="2442959" y="1417320"/>
            <a:ext cx="7305777"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Doubling the privacy budget is expensive. Four times the users is free.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Error drops below the spread of the index at roughly 2,500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6</a:t>
            </a:r>
          </a:p>
          <a:p>
            <a:pPr>
              <a:spcBef>
                <a:spcPts val="1000"/>
              </a:spcBef>
            </a:pPr>
            <a:r>
              <a:rPr sz="4200" b="1">
                <a:solidFill>
                  <a:srgbClr val="FFFFFF"/>
                </a:solidFill>
                <a:latin typeface="Helvetica Neue"/>
              </a:rPr>
              <a:t>Back to OpenSearch, and the limits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In </a:t>
            </a:r>
            <a:r>
              <a:rPr sz="1900" b="0">
                <a:solidFill>
                  <a:srgbClr val="141B2D"/>
                </a:solidFill>
                <a:latin typeface="Consolas"/>
              </a:rPr>
              <a:t>ubi.js</a:t>
            </a:r>
            <a:r>
              <a:rPr sz="2100" b="0">
                <a:solidFill>
                  <a:srgbClr val="141B2D"/>
                </a:solidFill>
                <a:latin typeface="Helvetica Neue"/>
              </a:rPr>
              <a:t>, on the device, before the event is sent</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cluster stores noised vectors and never sees the raw query</a:t>
            </a:r>
          </a:p>
          <a:p>
            <a:pPr marL="342900" indent="-342900">
              <a:spcAft>
                <a:spcPts val="1400"/>
              </a:spcAft>
            </a:pPr>
            <a:r>
              <a:rPr sz="2100" b="1">
                <a:solidFill>
                  <a:srgbClr val="005EB8"/>
                </a:solidFill>
                <a:latin typeface="Helvetica Neue"/>
              </a:rPr>
              <a:t>-   </a:t>
            </a:r>
            <a:r>
              <a:rPr sz="2100" b="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a:solidFill>
                  <a:srgbClr val="141B2D"/>
                </a:solidFill>
                <a:latin typeface="Helvetica Neue"/>
              </a:rPr>
              <a:t>You set epsilon in </a:t>
            </a:r>
            <a:r>
              <a:rPr sz="1900" b="0">
                <a:solidFill>
                  <a:srgbClr val="141B2D"/>
                </a:solidFill>
                <a:latin typeface="Consolas"/>
              </a:rPr>
              <a:t>ubi.js</a:t>
            </a:r>
            <a:r>
              <a:rPr sz="2100" b="0">
                <a:solidFill>
                  <a:srgbClr val="141B2D"/>
                </a:solidFill>
                <a:latin typeface="Helvetica Neue"/>
              </a:rPr>
              <a:t>, so anyone can read the value you shipped</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a:solidFill>
                  <a:srgbClr val="141B2D"/>
                </a:solidFill>
                <a:latin typeface="Helvetica Neue"/>
              </a:rPr>
              <a:t>Cohort-level training signal for learning-to-rank</a:t>
            </a:r>
          </a:p>
          <a:p>
            <a:pPr marL="342900" indent="-342900">
              <a:spcAft>
                <a:spcPts val="2000"/>
              </a:spcAft>
            </a:pPr>
            <a:r>
              <a:rPr sz="2400" b="1">
                <a:solidFill>
                  <a:srgbClr val="005EB8"/>
                </a:solidFill>
                <a:latin typeface="Helvetica Neue"/>
              </a:rPr>
              <a:t>-   </a:t>
            </a:r>
            <a:r>
              <a:rPr sz="2400" b="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The category leaks. Harmless for furniture, maybe not for a medical corpus</a:t>
            </a:r>
          </a:p>
          <a:p>
            <a:pPr marL="342900" indent="-342900">
              <a:spcAft>
                <a:spcPts val="2000"/>
              </a:spcAft>
            </a:pPr>
            <a:r>
              <a:rPr sz="2400" b="1">
                <a:solidFill>
                  <a:srgbClr val="B4311A"/>
                </a:solidFill>
                <a:latin typeface="Helvetica Neue"/>
              </a:rPr>
              <a:t>-   </a:t>
            </a:r>
            <a:r>
              <a:rPr sz="2400" b="0">
                <a:solidFill>
                  <a:srgbClr val="141B2D"/>
                </a:solidFill>
                <a:latin typeface="Helvetica Neue"/>
              </a:rPr>
              <a:t>Epsilon does not transfer between indexes. It depends on coordinate spread</a:t>
            </a:r>
          </a:p>
          <a:p>
            <a:pPr marL="342900" indent="-342900">
              <a:spcAft>
                <a:spcPts val="2000"/>
              </a:spcAft>
            </a:pPr>
            <a:r>
              <a:rPr sz="2400" b="1">
                <a:solidFill>
                  <a:srgbClr val="B4311A"/>
                </a:solidFill>
                <a:latin typeface="Helvetica Neue"/>
              </a:rPr>
              <a:t>-   </a:t>
            </a:r>
            <a:r>
              <a:rPr sz="2400" b="0">
                <a:solidFill>
                  <a:srgbClr val="141B2D"/>
                </a:solidFill>
                <a:latin typeface="Helvetica Neue"/>
              </a:rPr>
              <a:t>Low-traffic segments stay unmeasurable</a:t>
            </a:r>
          </a:p>
          <a:p>
            <a:pPr marL="342900" indent="-342900">
              <a:spcAft>
                <a:spcPts val="2000"/>
              </a:spcAft>
            </a:pPr>
            <a:r>
              <a:rPr sz="2400" b="1">
                <a:solidFill>
                  <a:srgbClr val="B4311A"/>
                </a:solidFill>
                <a:latin typeface="Helvetica Neue"/>
              </a:rPr>
              <a:t>-   </a:t>
            </a:r>
            <a:r>
              <a:rPr sz="2400" b="0">
                <a:solidFill>
                  <a:srgbClr val="141B2D"/>
                </a:solidFill>
                <a:latin typeface="Helvetica Neue"/>
              </a:rPr>
              <a:t>Clicks are counts, not vectors, and want randomized response instead</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a:solidFill>
                  <a:srgbClr val="141B2D"/>
                </a:solidFill>
                <a:latin typeface="Helvetica Neue"/>
              </a:rPr>
              <a:t>Noise at the source beats scrubbing after the fact</a:t>
            </a:r>
          </a:p>
          <a:p>
            <a:pPr marL="342900" indent="-342900">
              <a:spcAft>
                <a:spcPts val="2000"/>
              </a:spcAft>
            </a:pPr>
            <a:r>
              <a:rPr sz="2400" b="1">
                <a:solidFill>
                  <a:srgbClr val="005EB8"/>
                </a:solidFill>
                <a:latin typeface="Helvetica Neue"/>
              </a:rPr>
              <a:t>-   </a:t>
            </a:r>
            <a:r>
              <a:rPr sz="2400" b="0">
                <a:solidFill>
                  <a:srgbClr val="141B2D"/>
                </a:solidFill>
                <a:latin typeface="Helvetica Neue"/>
              </a:rPr>
              <a:t>Verify the mechanism by attacking it, not by trusting it</a:t>
            </a:r>
          </a:p>
          <a:p>
            <a:pPr marL="342900" indent="-342900">
              <a:spcAft>
                <a:spcPts val="2000"/>
              </a:spcAft>
            </a:pPr>
            <a:r>
              <a:rPr sz="2400" b="1">
                <a:solidFill>
                  <a:srgbClr val="005EB8"/>
                </a:solidFill>
                <a:latin typeface="Helvetica Neue"/>
              </a:rPr>
              <a:t>-   </a:t>
            </a:r>
            <a:r>
              <a:rPr sz="2400" b="0">
                <a:solidFill>
                  <a:srgbClr val="005EB8"/>
                </a:solidFill>
                <a:latin typeface="Helvetica Neue"/>
              </a:rPr>
              <a:t>You trade individual resolution for population accuracy, and relevance only needs the latter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TextBox 3"/>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