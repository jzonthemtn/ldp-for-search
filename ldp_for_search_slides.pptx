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redaction work is no longer a bullet but is still worth saying out loud,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has to understand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longest part by far, because it carries the mechanism, the evidence, the cost and the payoff. Three evidence slides in order of strength, the distribution audit, then the epsilon comparison, then the attacker. Then what the noise costs, then what survives it. No divider marks the payoff any more, so the turn from the epsilon sweep to the asymmetry slide is yours to make out 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appears on no slide, so leave it out unless asked. The shape on the next slide explains it.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attacker slide two on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epsilon sweep later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17's rose for the attacker, so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needed the real index, which is the attacker curve you showed a slide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 No chart backs this up any more, so carry section 11's result yourself. 480 real WANDS queries in five segments, every user privatizing independently on their own device, no readable query anywhere and no trusted intermediate step. Individual recovery per segment runs 0.020, 0.020, 0.063, 0.070 and 0.030 against chance of 0.014 to 0.031, so one to two and a half times chance, which is not usable. Segment identification is 5 of 5, exact. Same data, same epsilon of 1.0, two different questions. If anyone wants the convergence behind it, the error falls as one over root n across four orders of magnitude and the notebook plots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bullet is the only definition of a segment anywhere in the deck, so say it rather than reading past it. In the notebook a segment is a topical cohort, everyone searching for beds, but in production it is a storefront, a locale, an A/B arm or a device type. The one constraint is that the grouping key has to be something the server can see without reading the query, so it travels as metadata on the noised submission. The threshold itself is no longer on a slide, so it is yours to give if they want a number. The 2,300 is where the measured error crosses the spread of the index, 0.128, on the convergence plot in the notebook. That bar is strict on purpose, since two typical products sit about 0.82 apart, and it is specific to this index. It is not a constant, because error goes as one over epsilon times one over root n, so the threshold scales as one over epsilon squared, which puts it at about 9,200 users at epsilon 0.5 and about 575 at epsilon 2. 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third bullet here.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Say queries rather than people, because the identifiers are still in the clear and the limitations slide admits it shortly. Exact is doing work too, since the category still leaks at a usable epsilon, which is the first limitation you show.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next slide shows how that training actually works, and the limitations slide after it says what does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expands the learning-to-rank bullet on the previous slide, and it is the one place to be careful, because it is a recipe rather than a result. Nothing in this talk trains a ranker. Say so if asked. What is measured is the inputs: clicks were never touched by the mechanism, and the segment centroid is accurate above roughly 2,300 users. The labels are therefore exactly what they are today. What moves is the key. You cannot read a query, so you cannot build judgment lists per query string, and you cannot recompute BM25 against words you do not have. You group by segment instead and use its centroid as the query representation, which suits an embedding ranker and suits a term-based feature set badly. Walk the example slowly, it is the whole slide: a few thousand people search for beds, every one of them privatizes on their own device, and the server averages what arrives into a centroid that is accurate but belongs to nobody. The clicks sitting next to it were never noised. That pair, the centroid and the clicks, is a training example. Beds is the cohort behind the convergence plot, so this is the same segment they have already seen measured. Name the category honestly: this is closer to intent-based ranking profiles than to per-query learning-to-rank, and it is coarser, because every query in a segment collapses to one key. If someone asks how much that costs, the next slide measures it, and the two losses separate cleanly. Keying on segments instead of queries is a modelling choice you can evaluate on clean data with no privacy involved, while the noise itself costs almost nothing above the threshold the convergence plot showed. Everything inherits the segment constraint from earlier, so head segments train and the long tail does not reach the user count.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slide in this part with a measurement behind it, so lean on it. 472 WANDS queries ranked against 233,430 graded judgments, scored as NDCG@10. The only thing that changes between the three lines is the vector each query is ranked against. Blue is the query itself at 0.763, which is the ceiling. Orange is the segment centroid and green is that centroid recovered from noisy queries at epsilon 1, at 40 segments of roughly a dozen queries each. Point at the last two bars first, because their being identical is the finding. The noise costs 0.001 here and never more than 0.003 anywhere in the sweep, so the whole drop from the first bar is the price of segmenting rather than the price of privacy. That price is real but it moves with how finely you segment, running from 0.586 at five segments to 0.737 at 320, and the notebook has the full curve if anyone wants it. Two caveats to volunteer. This ranks by vector distance rather than training a ranker, which isolates the query representation instead of measuring a production system. And 480 queries is a small corpus, so the numbers are indicative.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zonthemtn/ldp-for-search" TargetMode="External"/><Relationship Id="rId3" Type="http://schemas.openxmlformats.org/officeDocument/2006/relationships/image" Target="../media/image14.png"/><Relationship Id="rId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primarily in cloud, search, and NLP</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(Local) Differential Privacy</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Search quality vs epsilon values</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Search quality only returns as the noise comes down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 segment is any group you would slice a dashboard by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too small? Add users or widen them, and leave epsilon alone</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Your head terms work and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search tuning.</a:t>
            </a:r>
          </a:p>
          <a:p>
            <a:pPr>
              <a:spcAft>
                <a:spcPts val="1600"/>
              </a:spcAft>
            </a:pPr>
            <a:r>
              <a:rPr sz="3400" b="0">
                <a:solidFill>
                  <a:srgbClr val="005EB8"/>
                </a:solidFill>
                <a:latin typeface="Helvetica Neue"/>
              </a:rPr>
              <a:t>It costs you exact queries.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a specific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Training learning-to-rank on noised queries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labels were never protected, so what changes is what you key them on</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Classic LTR</a:t>
                      </a:r>
                    </a:p>
                  </a:txBody>
                  <a:tcPr anchor="ctr">
                    <a:solidFill>
                      <a:srgbClr val="005EB8"/>
                    </a:solidFill>
                  </a:tcPr>
                </a:tc>
                <a:tc>
                  <a:txBody>
                    <a:bodyPr/>
                    <a:lstStyle/>
                    <a:p>
                      <a:pPr algn="ctr"/>
                      <a:r>
                        <a:rPr sz="1800" b="1">
                          <a:solidFill>
                            <a:srgbClr val="FFFFFF"/>
                          </a:solidFill>
                          <a:latin typeface="Helvetica Neue"/>
                        </a:rPr>
                        <a:t>Under LDP</a:t>
                      </a:r>
                    </a:p>
                  </a:txBody>
                  <a:tcPr anchor="ctr">
                    <a:solidFill>
                      <a:srgbClr val="005EB8"/>
                    </a:solidFill>
                  </a:tcPr>
                </a:tc>
              </a:tr>
              <a:tr h="566928">
                <a:tc>
                  <a:txBody>
                    <a:bodyPr/>
                    <a:lstStyle/>
                    <a:p>
                      <a:pPr algn="l"/>
                      <a:r>
                        <a:rPr sz="1800" b="0">
                          <a:solidFill>
                            <a:srgbClr val="141B2D"/>
                          </a:solidFill>
                          <a:latin typeface="Helvetica Neue"/>
                        </a:rPr>
                        <a:t>Labels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r>
              <a:tr h="566928">
                <a:tc>
                  <a:txBody>
                    <a:bodyPr/>
                    <a:lstStyle/>
                    <a:p>
                      <a:pPr algn="l"/>
                      <a:r>
                        <a:rPr sz="1800" b="0">
                          <a:solidFill>
                            <a:srgbClr val="141B2D"/>
                          </a:solidFill>
                          <a:latin typeface="Helvetica Neue"/>
                        </a:rPr>
                        <a:t>Keyed on</a:t>
                      </a:r>
                    </a:p>
                  </a:txBody>
                  <a:tcPr anchor="ctr">
                    <a:solidFill>
                      <a:srgbClr val="FFFFFF"/>
                    </a:solidFill>
                  </a:tcPr>
                </a:tc>
                <a:tc>
                  <a:txBody>
                    <a:bodyPr/>
                    <a:lstStyle/>
                    <a:p>
                      <a:pPr algn="ctr"/>
                      <a:r>
                        <a:rPr sz="1800" b="0">
                          <a:solidFill>
                            <a:srgbClr val="141B2D"/>
                          </a:solidFill>
                          <a:latin typeface="Helvetica Neue"/>
                        </a:rPr>
                        <a:t>The query</a:t>
                      </a:r>
                    </a:p>
                  </a:txBody>
                  <a:tcPr anchor="ctr">
                    <a:solidFill>
                      <a:srgbClr val="FFFFFF"/>
                    </a:solidFill>
                  </a:tcPr>
                </a:tc>
                <a:tc>
                  <a:txBody>
                    <a:bodyPr/>
                    <a:lstStyle/>
                    <a:p>
                      <a:pPr algn="ctr"/>
                      <a:r>
                        <a:rPr sz="1800" b="0">
                          <a:solidFill>
                            <a:srgbClr val="141B2D"/>
                          </a:solidFill>
                          <a:latin typeface="Helvetica Neue"/>
                        </a:rPr>
                        <a:t>The segment</a:t>
                      </a:r>
                    </a:p>
                  </a:txBody>
                  <a:tcPr anchor="ctr">
                    <a:solidFill>
                      <a:srgbClr val="FFFFFF"/>
                    </a:solidFill>
                  </a:tcPr>
                </a:tc>
              </a:tr>
              <a:tr h="566928">
                <a:tc>
                  <a:txBody>
                    <a:bodyPr/>
                    <a:lstStyle/>
                    <a:p>
                      <a:pPr algn="l"/>
                      <a:r>
                        <a:rPr sz="1800" b="0">
                          <a:solidFill>
                            <a:srgbClr val="141B2D"/>
                          </a:solidFill>
                          <a:latin typeface="Helvetica Neue"/>
                        </a:rPr>
                        <a:t>Query features</a:t>
                      </a:r>
                    </a:p>
                  </a:txBody>
                  <a:tcPr anchor="ctr">
                    <a:solidFill>
                      <a:srgbClr val="F4F7FB"/>
                    </a:solidFill>
                  </a:tcPr>
                </a:tc>
                <a:tc>
                  <a:txBody>
                    <a:bodyPr/>
                    <a:lstStyle/>
                    <a:p>
                      <a:pPr algn="ctr"/>
                      <a:r>
                        <a:rPr sz="1800" b="0">
                          <a:solidFill>
                            <a:srgbClr val="141B2D"/>
                          </a:solidFill>
                          <a:latin typeface="Helvetica Neue"/>
                        </a:rPr>
                        <a:t>BM25 and term matches</a:t>
                      </a:r>
                    </a:p>
                  </a:txBody>
                  <a:tcPr anchor="ctr">
                    <a:solidFill>
                      <a:srgbClr val="F4F7FB"/>
                    </a:solidFill>
                  </a:tcPr>
                </a:tc>
                <a:tc>
                  <a:txBody>
                    <a:bodyPr/>
                    <a:lstStyle/>
                    <a:p>
                      <a:pPr algn="ctr"/>
                      <a:r>
                        <a:rPr sz="1800" b="0">
                          <a:solidFill>
                            <a:srgbClr val="141B2D"/>
                          </a:solidFill>
                          <a:latin typeface="Helvetica Neue"/>
                        </a:rPr>
                        <a:t>The segment centroid</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600" b="0">
                <a:solidFill>
                  <a:srgbClr val="141B2D"/>
                </a:solidFill>
                <a:latin typeface="Consolas"/>
              </a:rPr>
              <a:t>ubi_events</a:t>
            </a:r>
            <a:r>
              <a:rPr sz="1800" b="0" i="0">
                <a:solidFill>
                  <a:srgbClr val="141B2D"/>
                </a:solidFill>
                <a:latin typeface="Helvetica Neue"/>
              </a:rPr>
              <a:t> still shows which results were clicked</a:t>
            </a:r>
          </a:p>
          <a:p>
            <a:pPr>
              <a:spcAft>
                <a:spcPts val="800"/>
              </a:spcAft>
            </a:pPr>
            <a:r>
              <a:rPr sz="1800" b="0" i="0">
                <a:solidFill>
                  <a:srgbClr val="141B2D"/>
                </a:solidFill>
                <a:latin typeface="Helvetica Neue"/>
              </a:rPr>
              <a:t>Intent-based ranking profiles: for bed shoppers, boost these attributes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NDCG@10 Comparison</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Each bar ranks the same judged products against a different vector, scored as NDCG@10</a:t>
            </a:r>
          </a:p>
        </p:txBody>
      </p:sp>
      <p:pic>
        <p:nvPicPr>
          <p:cNvPr id="4" name="Picture 3" descr="12_ltr_segmentation.png"/>
          <p:cNvPicPr>
            <a:picLocks noChangeAspect="1"/>
          </p:cNvPicPr>
          <p:nvPr/>
        </p:nvPicPr>
        <p:blipFill>
          <a:blip r:embed="rId2"/>
          <a:stretch>
            <a:fillRect/>
          </a:stretch>
        </p:blipFill>
        <p:spPr>
          <a:xfrm>
            <a:off x="2696882" y="1828800"/>
            <a:ext cx="6797931" cy="3931920"/>
          </a:xfrm>
          <a:prstGeom prst="rect">
            <a:avLst/>
          </a:prstGeom>
        </p:spPr>
      </p:pic>
      <p:sp>
        <p:nvSpPr>
          <p:cNvPr id="5" name="TextBox 4"/>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233,430 graded judgments, 40 segments (arbitrarily chosen), epsilon 1 at 20,000 users a segment</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u="sng">
                <a:solidFill>
                  <a:srgbClr val="8EB8E8"/>
                </a:solidFill>
                <a:latin typeface="Helvetica Neue"/>
                <a:hlinkClick r:id="rId2"/>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3"/>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