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 documents aloud. They fit in one breath. Then run section 9 and let the raw result speak. Do not rush this, it is the hinge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Volunteer the weakness before anyone asks. This buys credibility for Part 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yourself. If it comes out in Q&amp;A instead, the talk loses. Volunteering it is what makes Part 5 believable.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to the red line first and stay there. That is the demo from Part 2, with the top hit correct 7 percent of the time against a 5 percent baseline, and the top five 45 against 25. Barely above guessing, which is the confession from the previous slide made visible. Then sweep right to make the second point, that utility only returns as epsilon rises, and by then the attacker is reading the query too. Note the curves rise here where slide 15's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This is the payoff and the answer to Part 4. Give it the most room.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no one in a segment sends a readable query, and the server does the aggregation on noised vectors only. There is no trusted intermediate step. Read the result off the notebook rather than a slide, because both halves matter. Individual recovery per segment runs 0.020, 0.020, 0.063, 0.070 and 0.030 against chance of 0.014 to 0.031, so roughly one to two and a half times chance, which is not usable. Segment identification is 5 of 5, exact. Same data, same epsilon of 1.0, two different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Measured error tracks theory across four orders of magnitude. The title no longer says this is ordinary statistics, so say it: averaging n independent things shrinks the noise as one over root n, the same reason a poll of four thousand beats one of one thousand. Nothing here is special to privacy. Point at the crossing with the red line, that is the next slide. Spell the crossing out, because it is the one thing on this slide that is not self-evident. The red line is not a distance. It is the mean per-coordinate standard deviation of the index, 0.128, used as a deliberately strict accuracy target. The typical Euclidean distance between two products is about 0.82, so this bar is roughly six times stricter than merely telling products apart. If asked, say conservative, and do not call it a distance.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2,500 is where the measured error crosses the spread of the index, 0.128, on the convergence plot. It is not a constant: error goes as one over epsilon times one over root n, so the threshold scales as one over epsilon squared. At epsilon 0.5 it is 10,000 users, at epsilon 2 it is about 625.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Keeping relevance work alive when you cannot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Independent consultant, Mountain Fog</a:t>
            </a:r>
          </a:p>
          <a:p>
            <a:pPr marL="342900" indent="-342900">
              <a:spcAft>
                <a:spcPts val="2000"/>
              </a:spcAft>
            </a:pPr>
            <a:r>
              <a:rPr sz="2400" b="1">
                <a:solidFill>
                  <a:srgbClr val="005EB8"/>
                </a:solidFill>
                <a:latin typeface="Helvetica Neue"/>
              </a:rPr>
              <a:t>-   </a:t>
            </a:r>
            <a:r>
              <a:rPr sz="2400" b="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a:solidFill>
                  <a:srgbClr val="141B2D"/>
                </a:solidFill>
                <a:latin typeface="Helvetica Neue"/>
              </a:rPr>
              <a:t>PII redaction tooling at Philterd</a:t>
            </a:r>
          </a:p>
          <a:p>
            <a:pPr marL="342900" indent="-342900">
              <a:spcAft>
                <a:spcPts val="2000"/>
              </a:spcAft>
            </a:pPr>
            <a:r>
              <a:rPr sz="2400" b="1">
                <a:solidFill>
                  <a:srgbClr val="005EB8"/>
                </a:solidFill>
                <a:latin typeface="Helvetica Neue"/>
              </a:rPr>
              <a:t>-   </a:t>
            </a:r>
            <a:r>
              <a:rPr sz="2400" b="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blocker</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Relevance work is empirical, not theoretical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Which queries fire, which results get clicked, at which position</a:t>
            </a:r>
          </a:p>
          <a:p>
            <a:pPr marL="342900" indent="-342900">
              <a:spcAft>
                <a:spcPts val="1400"/>
              </a:spcAft>
            </a:pPr>
            <a:r>
              <a:rPr sz="2100" b="1">
                <a:solidFill>
                  <a:srgbClr val="005EB8"/>
                </a:solidFill>
                <a:latin typeface="Helvetica Neue"/>
              </a:rPr>
              <a:t>-   </a:t>
            </a:r>
            <a:r>
              <a:rPr sz="2100" b="0">
                <a:solidFill>
                  <a:srgbClr val="141B2D"/>
                </a:solidFill>
                <a:latin typeface="Helvetica Neue"/>
              </a:rPr>
              <a:t>Learning-to-rank trains on exactly this signal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Without it you are guessing, and shipping guesses to production</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a:solidFill>
                  <a:srgbClr val="141B2D"/>
                </a:solidFill>
                <a:latin typeface="Helvetica Neue"/>
              </a:rPr>
              <a:t>This is the raw material relevance tuning runs on</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Then legal reads the schema</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a:solidFill>
                  <a:srgbClr val="141B2D"/>
                </a:solidFill>
                <a:latin typeface="Helvetica Neue"/>
              </a:rPr>
              <a:t> is free text a person typed. It can contain anything</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a:solidFill>
                  <a:srgbClr val="141B2D"/>
                </a:solidFill>
                <a:latin typeface="Helvetica Neue"/>
              </a:rPr>
              <a:t> and </a:t>
            </a:r>
            <a:r>
              <a:rPr sz="2200" b="0">
                <a:solidFill>
                  <a:srgbClr val="141B2D"/>
                </a:solidFill>
                <a:latin typeface="Consolas"/>
              </a:rPr>
              <a:t>session_id</a:t>
            </a:r>
            <a:r>
              <a:rPr sz="2400" b="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a:solidFill>
                  <a:srgbClr val="141B2D"/>
                </a:solidFill>
                <a:latin typeface="Helvetica Neue"/>
              </a:rPr>
              <a:t>In healthcare and finance, that combination is a hard stop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Zero-trust stopped being a buzzword and became a blocker to relevance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by construction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discover the failure after the fact, if at all</a:t>
            </a:r>
          </a:p>
          <a:p>
            <a:pPr marL="342900" indent="-342900">
              <a:spcAft>
                <a:spcPts val="1400"/>
              </a:spcAft>
            </a:pPr>
            <a:r>
              <a:rPr sz="2100" b="1">
                <a:solidFill>
                  <a:srgbClr val="005EB8"/>
                </a:solidFill>
                <a:latin typeface="Helvetica Neue"/>
              </a:rPr>
              <a:t>-   </a:t>
            </a:r>
            <a:r>
              <a:rPr sz="2100" b="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feels private. It is a vector of floats, not words</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is not private. It is a lossy encoding</a:t>
            </a:r>
          </a:p>
          <a:p>
            <a:pPr marL="342900" indent="-342900">
              <a:spcAft>
                <a:spcPts val="1400"/>
              </a:spcAft>
            </a:pPr>
            <a:r>
              <a:rPr sz="2100" b="1">
                <a:solidFill>
                  <a:srgbClr val="005EB8"/>
                </a:solidFill>
                <a:latin typeface="Helvetica Neue"/>
              </a:rPr>
              <a:t>-   </a:t>
            </a:r>
            <a:r>
              <a:rPr sz="2100" b="0">
                <a:solidFill>
                  <a:srgbClr val="141B2D"/>
                </a:solidFill>
                <a:latin typeface="Helvetica Neue"/>
              </a:rPr>
              <a:t>Vector inversion recovers the intent</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invert a raw query vector</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sections 1 to 6, then section 9</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a:solidFill>
                  <a:srgbClr val="141B2D"/>
                </a:solidFill>
                <a:latin typeface="Helvetica Neue"/>
              </a:rPr>
              <a:t>No text was stored, and the intent leaked anyway</a:t>
            </a:r>
          </a:p>
          <a:p>
            <a:pPr marL="342900" indent="-342900">
              <a:spcAft>
                <a:spcPts val="2000"/>
              </a:spcAft>
            </a:pPr>
            <a:r>
              <a:rPr sz="2400" b="1">
                <a:solidFill>
                  <a:srgbClr val="B4311A"/>
                </a:solidFill>
                <a:latin typeface="Helvetica Neue"/>
              </a:rPr>
              <a:t>-   </a:t>
            </a:r>
            <a:r>
              <a:rPr sz="2400" b="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mechanism, and how to verify it</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cluster never receives a readable query, so there is nothing to scrub</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 is what we claim</a:t>
            </a:r>
          </a:p>
        </p:txBody>
      </p:sp>
      <p:pic>
        <p:nvPicPr>
          <p:cNvPr id="3" name="Picture 2" descr="08_laplace_tent_audit.png"/>
          <p:cNvPicPr>
            <a:picLocks noChangeAspect="1"/>
          </p:cNvPicPr>
          <p:nvPr/>
        </p:nvPicPr>
        <p:blipFill>
          <a:blip r:embed="rId2"/>
          <a:stretch>
            <a:fillRect/>
          </a:stretch>
        </p:blipFill>
        <p:spPr>
          <a:xfrm>
            <a:off x="2155300" y="1417320"/>
            <a:ext cx="7881094"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A biased mechanism would put the peak off the red line. The width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87714" y="1417320"/>
            <a:ext cx="7216267"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category leaks well before the item does. At epsilon 1, neither is recoverable.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What it costs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That first demo was rigged</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It ran at epsilon 1.2 on a 20 document index</a:t>
            </a:r>
          </a:p>
          <a:p>
            <a:pPr marL="342900" indent="-342900">
              <a:spcAft>
                <a:spcPts val="2000"/>
              </a:spcAft>
            </a:pPr>
            <a:r>
              <a:rPr sz="2400" b="1">
                <a:solidFill>
                  <a:srgbClr val="B4311A"/>
                </a:solidFill>
                <a:latin typeface="Helvetica Neue"/>
              </a:rPr>
              <a:t>-   </a:t>
            </a:r>
            <a:r>
              <a:rPr sz="2400" b="0">
                <a:solidFill>
                  <a:srgbClr val="141B2D"/>
                </a:solidFill>
                <a:latin typeface="Helvetica Neue"/>
              </a:rPr>
              <a:t>The attacker learned nothing, and neither did the user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At epsilon 1.2, barely better than guessing</a:t>
            </a:r>
          </a:p>
        </p:txBody>
      </p:sp>
      <p:pic>
        <p:nvPicPr>
          <p:cNvPr id="3" name="Picture 2" descr="07_epsilon_tradeoff_toy_index.png"/>
          <p:cNvPicPr>
            <a:picLocks noChangeAspect="1"/>
          </p:cNvPicPr>
          <p:nvPr/>
        </p:nvPicPr>
        <p:blipFill>
          <a:blip r:embed="rId2"/>
          <a:stretch>
            <a:fillRect/>
          </a:stretch>
        </p:blipFill>
        <p:spPr>
          <a:xfrm>
            <a:off x="2192782" y="1417320"/>
            <a:ext cx="7806131"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The red line is where the first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5</a:t>
            </a:r>
          </a:p>
          <a:p>
            <a:pPr>
              <a:spcBef>
                <a:spcPts val="1000"/>
              </a:spcBef>
            </a:pPr>
            <a:r>
              <a:rPr sz="4200" b="1">
                <a:solidFill>
                  <a:srgbClr val="FFFFFF"/>
                </a:solidFill>
                <a:latin typeface="Helvetica Neue"/>
              </a:rPr>
              <a:t>What you keep</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asymmetry is the whole point</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Laplace noise is zero-mean</a:t>
            </a:r>
          </a:p>
          <a:p>
            <a:pPr marL="342900" indent="-342900">
              <a:spcAft>
                <a:spcPts val="1400"/>
              </a:spcAft>
            </a:pPr>
            <a:r>
              <a:rPr sz="2100" b="1">
                <a:solidFill>
                  <a:srgbClr val="005EB8"/>
                </a:solidFill>
                <a:latin typeface="Helvetica Neue"/>
              </a:rPr>
              <a:t>-   </a:t>
            </a:r>
            <a:r>
              <a:rPr sz="2100" b="0">
                <a:solidFill>
                  <a:srgbClr val="141B2D"/>
                </a:solidFill>
                <a:latin typeface="Helvetica Neue"/>
              </a:rPr>
              <a:t>It cancels when you average over many independent users</a:t>
            </a:r>
          </a:p>
          <a:p>
            <a:pPr marL="342900" indent="-342900">
              <a:spcAft>
                <a:spcPts val="1400"/>
              </a:spcAft>
            </a:pPr>
            <a:r>
              <a:rPr sz="2100" b="1">
                <a:solidFill>
                  <a:srgbClr val="005EB8"/>
                </a:solidFill>
                <a:latin typeface="Helvetica Neue"/>
              </a:rPr>
              <a:t>-   </a:t>
            </a:r>
            <a:r>
              <a:rPr sz="2100" b="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a:solidFill>
                  <a:srgbClr val="141B2D"/>
                </a:solidFill>
                <a:latin typeface="Helvetica Neue"/>
              </a:rPr>
              <a:t>The trend across ten thousand people is not</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1737360"/>
            <a:ext cx="10515600" cy="548640"/>
          </a:xfrm>
          <a:prstGeom prst="rect">
            <a:avLst/>
          </a:prstGeom>
          <a:noFill/>
        </p:spPr>
        <p:txBody>
          <a:bodyPr wrap="square">
            <a:spAutoFit/>
          </a:bodyPr>
          <a:lstStyle/>
          <a:p>
            <a:r>
              <a:rPr sz="1800" b="1">
                <a:solidFill>
                  <a:srgbClr val="5A9BE8"/>
                </a:solidFill>
                <a:latin typeface="Helvetica Neue"/>
              </a:rPr>
              <a:t>LIVE NOTEBOOK</a:t>
            </a:r>
          </a:p>
        </p:txBody>
      </p:sp>
      <p:sp>
        <p:nvSpPr>
          <p:cNvPr id="3" name="TextBox 2"/>
          <p:cNvSpPr txBox="1"/>
          <p:nvPr/>
        </p:nvSpPr>
        <p:spPr>
          <a:xfrm>
            <a:off x="822960" y="2377440"/>
            <a:ext cx="10515600" cy="1097280"/>
          </a:xfrm>
          <a:prstGeom prst="rect">
            <a:avLst/>
          </a:prstGeom>
          <a:noFill/>
        </p:spPr>
        <p:txBody>
          <a:bodyPr wrap="square">
            <a:spAutoFit/>
          </a:bodyPr>
          <a:lstStyle/>
          <a:p>
            <a:r>
              <a:rPr sz="3800" b="1">
                <a:solidFill>
                  <a:srgbClr val="FFFFFF"/>
                </a:solidFill>
                <a:latin typeface="Helvetica Neue"/>
              </a:rPr>
              <a:t>Demo: segments of real users</a:t>
            </a:r>
          </a:p>
        </p:txBody>
      </p:sp>
      <p:sp>
        <p:nvSpPr>
          <p:cNvPr id="4" name="TextBox 3"/>
          <p:cNvSpPr txBox="1"/>
          <p:nvPr/>
        </p:nvSpPr>
        <p:spPr>
          <a:xfrm>
            <a:off x="822960" y="3749039"/>
            <a:ext cx="10515600" cy="1828800"/>
          </a:xfrm>
          <a:prstGeom prst="rect">
            <a:avLst/>
          </a:prstGeom>
          <a:noFill/>
        </p:spPr>
        <p:txBody>
          <a:bodyPr wrap="square">
            <a:spAutoFit/>
          </a:bodyPr>
          <a:lstStyle/>
          <a:p>
            <a:pPr>
              <a:spcAft>
                <a:spcPts val="1200"/>
              </a:spcAft>
            </a:pPr>
            <a:r>
              <a:rPr sz="2200" b="0">
                <a:solidFill>
                  <a:srgbClr val="B8C2D4"/>
                </a:solidFill>
                <a:latin typeface="Helvetica Neue"/>
              </a:rPr>
              <a:t>Notebook section 11</a:t>
            </a:r>
          </a:p>
          <a:p>
            <a:pPr>
              <a:spcAft>
                <a:spcPts val="1200"/>
              </a:spcAft>
            </a:pPr>
            <a:r>
              <a:rPr sz="2200" b="0">
                <a:solidFill>
                  <a:srgbClr val="B8C2D4"/>
                </a:solidFill>
                <a:latin typeface="Helvetica Neue"/>
              </a:rPr>
              <a:t>480 real queries from Wayfair's WANDS dataset, grouped into 5 segments</a:t>
            </a:r>
          </a:p>
          <a:p>
            <a:pPr>
              <a:spcAft>
                <a:spcPts val="1200"/>
              </a:spcAft>
            </a:pPr>
            <a:r>
              <a:rPr sz="2200" b="0">
                <a:solidFill>
                  <a:srgbClr val="B8C2D4"/>
                </a:solidFill>
                <a:latin typeface="Helvetica Neue"/>
              </a:rPr>
              <a:t>Every user privatizes independently, on their own device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a:solidFill>
                  <a:srgbClr val="5A647A"/>
                </a:solidFill>
                <a:latin typeface="Helvetica Neue"/>
              </a:rPr>
              <a:t>Average the noised queries of </a:t>
            </a:r>
            <a:r>
              <a:rPr sz="1300" b="0">
                <a:solidFill>
                  <a:srgbClr val="5A647A"/>
                </a:solidFill>
                <a:latin typeface="Consolas"/>
              </a:rPr>
              <a:t>n</a:t>
            </a:r>
            <a:r>
              <a:rPr sz="1500" b="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9022" y="1828800"/>
            <a:ext cx="6613651"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a:solidFill>
                  <a:srgbClr val="5A647A"/>
                </a:solidFill>
                <a:latin typeface="Helvetica Neue"/>
              </a:rPr>
              <a:t>Once the green error line drops under the red line, the privacy noise has become smaller than one coordinate's typical spread.</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Error drops below the spread of the index at roughly 2,500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6</a:t>
            </a:r>
          </a:p>
          <a:p>
            <a:pPr>
              <a:spcBef>
                <a:spcPts val="1000"/>
              </a:spcBef>
            </a:pPr>
            <a:r>
              <a:rPr sz="4200" b="1">
                <a:solidFill>
                  <a:srgbClr val="FFFFFF"/>
                </a:solidFill>
                <a:latin typeface="Helvetica Neue"/>
              </a:rPr>
              <a:t>Back to OpenSearch, and the limits</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a:solidFill>
                  <a:srgbClr val="141B2D"/>
                </a:solidFill>
                <a:latin typeface="Helvetica Neue"/>
              </a:rPr>
              <a:t>On the device, before </a:t>
            </a:r>
            <a:r>
              <a:rPr sz="1900" b="0">
                <a:solidFill>
                  <a:srgbClr val="141B2D"/>
                </a:solidFill>
                <a:latin typeface="Consolas"/>
              </a:rPr>
              <a:t>ubi.js</a:t>
            </a:r>
            <a:r>
              <a:rPr sz="2100" b="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a:solidFill>
                  <a:srgbClr val="5A647A"/>
                </a:solidFill>
                <a:latin typeface="Helvetica Neue"/>
              </a:rPr>
              <a:t>UBI supports this today through </a:t>
            </a:r>
            <a:r>
              <a:rPr sz="1200" b="0">
                <a:solidFill>
                  <a:srgbClr val="5A647A"/>
                </a:solidFill>
                <a:latin typeface="Consolas"/>
              </a:rPr>
              <a:t>query_attributes</a:t>
            </a:r>
            <a:r>
              <a:rPr sz="1400" b="0">
                <a:solidFill>
                  <a:srgbClr val="5A647A"/>
                </a:solidFill>
                <a:latin typeface="Helvetica Neue"/>
              </a:rPr>
              <a:t>, and the RFC will make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a:solidFill>
                  <a:srgbClr val="141B2D"/>
                </a:solidFill>
                <a:latin typeface="Helvetica Neue"/>
              </a:rPr>
              <a:t>The category leaks. Harmless for furniture, maybe not for a medical corpus</a:t>
            </a:r>
          </a:p>
          <a:p>
            <a:pPr marL="342900" indent="-342900">
              <a:spcAft>
                <a:spcPts val="2000"/>
              </a:spcAft>
            </a:pPr>
            <a:r>
              <a:rPr sz="2400" b="1">
                <a:solidFill>
                  <a:srgbClr val="B4311A"/>
                </a:solidFill>
                <a:latin typeface="Helvetica Neue"/>
              </a:rPr>
              <a:t>-   </a:t>
            </a:r>
            <a:r>
              <a:rPr sz="2400" b="0">
                <a:solidFill>
                  <a:srgbClr val="141B2D"/>
                </a:solidFill>
                <a:latin typeface="Helvetica Neue"/>
              </a:rPr>
              <a:t>Epsilon does not transfer between indexes. It depends on coordinate spread</a:t>
            </a:r>
          </a:p>
          <a:p>
            <a:pPr marL="342900" indent="-342900">
              <a:spcAft>
                <a:spcPts val="2000"/>
              </a:spcAft>
            </a:pPr>
            <a:r>
              <a:rPr sz="2400" b="1">
                <a:solidFill>
                  <a:srgbClr val="B4311A"/>
                </a:solidFill>
                <a:latin typeface="Helvetica Neue"/>
              </a:rPr>
              <a:t>-   </a:t>
            </a:r>
            <a:r>
              <a:rPr sz="2400" b="0">
                <a:solidFill>
                  <a:srgbClr val="141B2D"/>
                </a:solidFill>
                <a:latin typeface="Helvetica Neue"/>
              </a:rPr>
              <a:t>Low-traffic segments stay unmeasurable</a:t>
            </a:r>
          </a:p>
          <a:p>
            <a:pPr marL="342900" indent="-342900">
              <a:spcAft>
                <a:spcPts val="2000"/>
              </a:spcAft>
            </a:pPr>
            <a:r>
              <a:rPr sz="2400" b="1">
                <a:solidFill>
                  <a:srgbClr val="B4311A"/>
                </a:solidFill>
                <a:latin typeface="Helvetica Neue"/>
              </a:rPr>
              <a:t>-   </a:t>
            </a:r>
            <a:r>
              <a:rPr sz="2400" b="0">
                <a:solidFill>
                  <a:srgbClr val="141B2D"/>
                </a:solidFill>
                <a:latin typeface="Helvetica Neue"/>
              </a:rPr>
              <a:t>This protects </a:t>
            </a:r>
            <a:r>
              <a:rPr sz="2200" b="0">
                <a:solidFill>
                  <a:srgbClr val="141B2D"/>
                </a:solidFill>
                <a:latin typeface="Consolas"/>
              </a:rPr>
              <a:t>user_query</a:t>
            </a:r>
            <a:r>
              <a:rPr sz="2400" b="0">
                <a:solidFill>
                  <a:srgbClr val="141B2D"/>
                </a:solidFill>
                <a:latin typeface="Helvetica Neue"/>
              </a:rPr>
              <a:t>, while </a:t>
            </a:r>
            <a:r>
              <a:rPr sz="2200" b="0">
                <a:solidFill>
                  <a:srgbClr val="141B2D"/>
                </a:solidFill>
                <a:latin typeface="Consolas"/>
              </a:rPr>
              <a:t>ubi_events</a:t>
            </a:r>
            <a:r>
              <a:rPr sz="2400" b="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a:solidFill>
                  <a:srgbClr val="141B2D"/>
                </a:solidFill>
                <a:latin typeface="Helvetica Neue"/>
              </a:rPr>
              <a:t>Noise at the source beats scrubbing after the fact</a:t>
            </a:r>
          </a:p>
          <a:p>
            <a:pPr marL="342900" indent="-342900">
              <a:spcAft>
                <a:spcPts val="2000"/>
              </a:spcAft>
            </a:pPr>
            <a:r>
              <a:rPr sz="2400" b="1">
                <a:solidFill>
                  <a:srgbClr val="005EB8"/>
                </a:solidFill>
                <a:latin typeface="Helvetica Neue"/>
              </a:rPr>
              <a:t>-   </a:t>
            </a:r>
            <a:r>
              <a:rPr sz="2400" b="0">
                <a:solidFill>
                  <a:srgbClr val="141B2D"/>
                </a:solidFill>
                <a:latin typeface="Helvetica Neue"/>
              </a:rPr>
              <a:t>Verify the mechanism by attacking it, not by trusting it</a:t>
            </a:r>
          </a:p>
          <a:p>
            <a:pPr marL="342900" indent="-342900">
              <a:spcAft>
                <a:spcPts val="2000"/>
              </a:spcAft>
            </a:pPr>
            <a:r>
              <a:rPr sz="2400" b="1">
                <a:solidFill>
                  <a:srgbClr val="005EB8"/>
                </a:solidFill>
                <a:latin typeface="Helvetica Neue"/>
              </a:rPr>
              <a:t>-   </a:t>
            </a:r>
            <a:r>
              <a:rPr sz="2400" b="0">
                <a:solidFill>
                  <a:srgbClr val="005EB8"/>
                </a:solidFill>
                <a:latin typeface="Helvetica Neue"/>
              </a:rPr>
              <a:t>You trade individual resolution for population accuracy, and relevance only needs the latter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