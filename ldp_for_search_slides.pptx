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credential that matters for this talk is the PII redaction work,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Goal is that everyone understands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 Know which half you are about to solve: everything after this addresses user_query. The identifiers are dealt with on the limitations slide, so do not imply here that they go away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 minutes. 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 documents aloud. They fit in one breath. Then run section 9 and let the raw result speak. Do not rush this, it is the hinge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Mechanism briefly, then two verification beats, weakest to strongest.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can wait for the next slide, where the shape is on screen and does the explaining for you. If someone asks here, one sentence: symmetric noise, equally likely to push the value up or down, centered on the truth. The formula is deliberately off the slide. If someone asks, the noise scale is sensitivity over epsilon, and sensitivity here is 1.0 per coordinate on vectors whose whole norm is 1, which is conservative rather than tight. The notes file has the longer answer. Do not volunteer the word, it is the only term in the deck with no definition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next slide exists.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Volunteer the weakness before anyone asks. This buys credibility for Part 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yourself. If it comes out in Q&amp;A instead, the talk loses. Volunteering it is what makes Part 5 believable.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to the red line first and stay there. That is the demo from Part 2, with the top hit correct 7 percent of the time against a 5 percent baseline, and the top five 45 against 25. Barely above guessing, which is the confession from the previous slide made visible. Then sweep right to make the second point, that utility only returns as epsilon rises, and by then the attacker is reading the query too. Note the curves rise here where slide 15's rose for the attacker: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needs the real index,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This is the payoff and the answer to Part 4. Give it the most room.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no one in a segment sends a readable query, and the server does the aggregation on noised vectors only. There is no trusted intermediate step. Read the result off the notebook rather than a slide, because both halves matter. Individual recovery per segment runs 0.020, 0.020, 0.063, 0.070 and 0.030 against chance of 0.014 to 0.031, so roughly one to two and a half times chance, which is not usable. Segment identification is 5 of 5, exact. Same data, same epsilon of 1.0, two different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centerpiece. Take the shape first. More users, less error. The measured green line tracks the predicted grey one across four orders of magnitude. This is ordinary statistics, so say so: averaging n independent things shrinks the noise as one over root n, the same reason a poll of four thousand beats one of one thousand. Nothing here is special to privacy. Then the red line. Read it off the bottom axis: 2,300 users. That is the answer, and it is the next slide. If asked where 2,300 comes from, it is where the measured error drops under 0.128, the average spread of one coordinate across the index. That bar is strict on purpose. Two typical products sit about 0.82 apart, so the line is roughly six times stricter than just telling products apart.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audience one operational number they can apply on Monday. This is it. The 2,300 is where the measured error crosses the spread of the index, 0.128, on the convergence plot. It is not a constant: error goes as one over epsilon times one over root n, so the threshold scales as one over epsilon squared. At epsilon 0.5 it is about 9,200 users, at epsilon 2 it is about 575.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up front that none of this is built into UBI today. ubi.js is a serializer, and the embedding, the projection and the noise are code the adopter writes and runs before handing the request to trackQuery. The notes file has the call shape and the two ways to get it wrong. 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question, answered concretely, and it needs no change to the UBI spec. query_attributes is typed as a free-form object for exactly this kind of thing, and the epsilon travels with the record so a reader knows the budget it was collected under. user_query is emptied rather than dropped because the published schema lists it as required. Worth knowing if someone asks: the schema contradicts itself there, since the field also carries a comment saying it is not required, for recommendation systems with no typed query. Two things to volunteer: the identifiers are deliberately identical on both sides, which is the limitation two slides later, and every dashboard that reads user_query breaks, which is the real migration cost. A float array in an object is not a knn_vector either, so averaging these at query time needs a scripted aggregation or an explicit vector mapping.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 If anyone presses on the learning-to-rank bullet, be straight: LTR judgments come from clicks, and this mechanism does not touch clicks, so that signal survives because it was never protected rather than because LDP preserved it. The limitations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Two follow-ups come off that bullet. Asked how often epsilon needs re-tuning, say when you re-embed or refit PCA, because routine additions to a large index do not move the coordinate spread, and normalizing before PCA keeps sensitivity itself stable whatever the catalogue holds. Asked whether privacy decays over time, say yes but not through epsilon: one user's repeated queries compose, and an attacker who averages that one user's own noised draws recovers the intent, which is the asymmetry from Part 5 turned around. Epsilon is a budget per release rather than a standing property, so the fix is rotating or dropping client_id and session_id, not a smaller epsilon.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 On the last bullet, be direct: this is scoped work, not a finished privacy story for all of UBI. The query text is covered. Clicks are counts rather than vectors and want randomized response, and client_id and session_id would need rotating or dropping. That is the honest answer to the linkability half of the problem raised in Part 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github.com/wayfair/WANDS"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Tuning search when you can't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Independent consultant, Mountain Fog</a:t>
            </a:r>
          </a:p>
          <a:p>
            <a:pPr marL="342900" indent="-342900">
              <a:spcAft>
                <a:spcPts val="2000"/>
              </a:spcAft>
            </a:pPr>
            <a:r>
              <a:rPr sz="2400" b="1">
                <a:solidFill>
                  <a:srgbClr val="005EB8"/>
                </a:solidFill>
                <a:latin typeface="Helvetica Neue"/>
              </a:rPr>
              <a:t>-   </a:t>
            </a:r>
            <a:r>
              <a:rPr sz="2400" b="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a:solidFill>
                  <a:srgbClr val="141B2D"/>
                </a:solidFill>
                <a:latin typeface="Helvetica Neue"/>
              </a:rPr>
              <a:t>PII redaction tooling at Philterd</a:t>
            </a:r>
          </a:p>
          <a:p>
            <a:pPr marL="342900" indent="-342900">
              <a:spcAft>
                <a:spcPts val="2000"/>
              </a:spcAft>
            </a:pPr>
            <a:r>
              <a:rPr sz="2400" b="1">
                <a:solidFill>
                  <a:srgbClr val="005EB8"/>
                </a:solidFill>
                <a:latin typeface="Helvetica Neue"/>
              </a:rPr>
              <a:t>-   </a:t>
            </a:r>
            <a:r>
              <a:rPr sz="2400" b="0">
                <a:solidFill>
                  <a:srgbClr val="141B2D"/>
                </a:solidFill>
                <a:latin typeface="Helvetica Neue"/>
              </a:rPr>
              <a:t>Works in search, NLP, and privacy</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problem</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Relevance is measured</a:t>
            </a:r>
          </a:p>
          <a:p>
            <a:pPr marL="342900" indent="-342900">
              <a:spcAft>
                <a:spcPts val="1400"/>
              </a:spcAft>
            </a:pPr>
            <a:r>
              <a:rPr sz="2100" b="1">
                <a:solidFill>
                  <a:srgbClr val="005EB8"/>
                </a:solidFill>
                <a:latin typeface="Helvetica Neue"/>
              </a:rPr>
              <a:t>-   </a:t>
            </a:r>
            <a:r>
              <a:rPr sz="2100" b="0">
                <a:solidFill>
                  <a:srgbClr val="141B2D"/>
                </a:solidFill>
                <a:latin typeface="Helvetica Neue"/>
              </a:rPr>
              <a:t>Which queries fire, which results get clicked, at which position</a:t>
            </a:r>
          </a:p>
          <a:p>
            <a:pPr marL="342900" indent="-342900">
              <a:spcAft>
                <a:spcPts val="1400"/>
              </a:spcAft>
            </a:pPr>
            <a:r>
              <a:rPr sz="2100" b="1">
                <a:solidFill>
                  <a:srgbClr val="005EB8"/>
                </a:solidFill>
                <a:latin typeface="Helvetica Neue"/>
              </a:rPr>
              <a:t>-   </a:t>
            </a:r>
            <a:r>
              <a:rPr sz="2100" b="0">
                <a:solidFill>
                  <a:srgbClr val="141B2D"/>
                </a:solidFill>
                <a:latin typeface="Helvetica Neue"/>
              </a:rPr>
              <a:t>Learning-to-rank trains on exactly this signal</a:t>
            </a:r>
          </a:p>
          <a:p>
            <a:pPr marL="342900" indent="-342900">
              <a:spcAft>
                <a:spcPts val="1400"/>
              </a:spcAft>
            </a:pPr>
            <a:r>
              <a:rPr sz="2100" b="1">
                <a:solidFill>
                  <a:srgbClr val="005EB8"/>
                </a:solidFill>
                <a:latin typeface="Helvetica Neue"/>
              </a:rPr>
              <a:t>-   </a:t>
            </a:r>
            <a:r>
              <a:rPr sz="2100" b="0">
                <a:solidFill>
                  <a:srgbClr val="141B2D"/>
                </a:solidFill>
                <a:latin typeface="Helvetica Neue"/>
              </a:rPr>
              <a:t>Without it you are guessing, and shipping guesses to production</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a:solidFill>
                  <a:srgbClr val="141B2D"/>
                </a:solidFill>
                <a:latin typeface="Helvetica Neue"/>
              </a:rPr>
              <a:t>This is the raw material relevance tuning runs on</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Legal department sees the schema</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a:solidFill>
                  <a:srgbClr val="141B2D"/>
                </a:solidFill>
                <a:latin typeface="Helvetica Neue"/>
              </a:rPr>
              <a:t> is free text a person typed. It can contain anything</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a:solidFill>
                  <a:srgbClr val="141B2D"/>
                </a:solidFill>
                <a:latin typeface="Helvetica Neue"/>
              </a:rPr>
              <a:t> and </a:t>
            </a:r>
            <a:r>
              <a:rPr sz="2200" b="0">
                <a:solidFill>
                  <a:srgbClr val="141B2D"/>
                </a:solidFill>
                <a:latin typeface="Consolas"/>
              </a:rPr>
              <a:t>session_id</a:t>
            </a:r>
            <a:r>
              <a:rPr sz="2400" b="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a:solidFill>
                  <a:srgbClr val="141B2D"/>
                </a:solidFill>
                <a:latin typeface="Helvetica Neue"/>
              </a:rPr>
              <a:t>In healthcare and finance, that combination is a hard stop</a:t>
            </a:r>
          </a:p>
          <a:p>
            <a:pPr marL="342900" indent="-342900">
              <a:spcAft>
                <a:spcPts val="2000"/>
              </a:spcAft>
            </a:pPr>
            <a:r>
              <a:rPr sz="2400" b="1">
                <a:solidFill>
                  <a:srgbClr val="B4311A"/>
                </a:solidFill>
                <a:latin typeface="Helvetica Neue"/>
              </a:rPr>
              <a:t>-   </a:t>
            </a:r>
            <a:r>
              <a:rPr sz="2400" b="0">
                <a:solidFill>
                  <a:srgbClr val="141B2D"/>
                </a:solidFill>
                <a:latin typeface="Helvetica Neue"/>
              </a:rPr>
              <a:t>Zero-trust stopped being a buzzword and became a blocker to relevance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by construction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a:solidFill>
                  <a:srgbClr val="141B2D"/>
                </a:solidFill>
                <a:latin typeface="Helvetica Neue"/>
              </a:rPr>
              <a:t>You discover the failure after the fact, if at all</a:t>
            </a:r>
          </a:p>
          <a:p>
            <a:pPr marL="342900" indent="-342900">
              <a:spcAft>
                <a:spcPts val="1400"/>
              </a:spcAft>
            </a:pPr>
            <a:r>
              <a:rPr sz="2100" b="1">
                <a:solidFill>
                  <a:srgbClr val="005EB8"/>
                </a:solidFill>
                <a:latin typeface="Helvetica Neue"/>
              </a:rPr>
              <a:t>-   </a:t>
            </a:r>
            <a:r>
              <a:rPr sz="2100" b="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a:solidFill>
                  <a:srgbClr val="141B2D"/>
                </a:solidFill>
                <a:latin typeface="Helvetica Neue"/>
              </a:rPr>
              <a:t>It feels private. It is a vector of floats, not words</a:t>
            </a:r>
          </a:p>
          <a:p>
            <a:pPr marL="342900" indent="-342900">
              <a:spcAft>
                <a:spcPts val="1400"/>
              </a:spcAft>
            </a:pPr>
            <a:r>
              <a:rPr sz="2100" b="1">
                <a:solidFill>
                  <a:srgbClr val="005EB8"/>
                </a:solidFill>
                <a:latin typeface="Helvetica Neue"/>
              </a:rPr>
              <a:t>-   </a:t>
            </a:r>
            <a:r>
              <a:rPr sz="2100" b="0">
                <a:solidFill>
                  <a:srgbClr val="141B2D"/>
                </a:solidFill>
                <a:latin typeface="Helvetica Neue"/>
              </a:rPr>
              <a:t>It is not private. It is a lossy encoding</a:t>
            </a:r>
          </a:p>
          <a:p>
            <a:pPr marL="342900" indent="-342900">
              <a:spcAft>
                <a:spcPts val="1400"/>
              </a:spcAft>
            </a:pPr>
            <a:r>
              <a:rPr sz="2100" b="1">
                <a:solidFill>
                  <a:srgbClr val="005EB8"/>
                </a:solidFill>
                <a:latin typeface="Helvetica Neue"/>
              </a:rPr>
              <a:t>-   </a:t>
            </a:r>
            <a:r>
              <a:rPr sz="2100" b="0">
                <a:solidFill>
                  <a:srgbClr val="141B2D"/>
                </a:solidFill>
                <a:latin typeface="Helvetica Neue"/>
              </a:rPr>
              <a:t>Vector inversion recovers the intent</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square">
            <a:spAutoFit/>
          </a:bodyPr>
          <a:lstStyle/>
          <a:p>
            <a:r>
              <a:rPr sz="1800" b="1">
                <a:solidFill>
                  <a:srgbClr val="5A9BE8"/>
                </a:solidFill>
                <a:latin typeface="Helvetica Neue"/>
              </a:rPr>
              <a:t>LIVE NOTEBOOK</a:t>
            </a:r>
          </a:p>
        </p:txBody>
      </p:sp>
      <p:sp>
        <p:nvSpPr>
          <p:cNvPr id="3" name="TextBox 2"/>
          <p:cNvSpPr txBox="1"/>
          <p:nvPr/>
        </p:nvSpPr>
        <p:spPr>
          <a:xfrm>
            <a:off x="822960" y="2377440"/>
            <a:ext cx="10515600" cy="1097280"/>
          </a:xfrm>
          <a:prstGeom prst="rect">
            <a:avLst/>
          </a:prstGeom>
          <a:noFill/>
        </p:spPr>
        <p:txBody>
          <a:bodyPr wrap="square">
            <a:spAutoFit/>
          </a:bodyPr>
          <a:lstStyle/>
          <a:p>
            <a:r>
              <a:rPr sz="3800" b="1">
                <a:solidFill>
                  <a:srgbClr val="FFFFFF"/>
                </a:solidFill>
                <a:latin typeface="Helvetica Neue"/>
              </a:rPr>
              <a:t>Demo: invert a raw query vector</a:t>
            </a:r>
          </a:p>
        </p:txBody>
      </p:sp>
      <p:sp>
        <p:nvSpPr>
          <p:cNvPr id="4" name="TextBox 3"/>
          <p:cNvSpPr txBox="1"/>
          <p:nvPr/>
        </p:nvSpPr>
        <p:spPr>
          <a:xfrm>
            <a:off x="822960" y="3749039"/>
            <a:ext cx="10515600" cy="1828800"/>
          </a:xfrm>
          <a:prstGeom prst="rect">
            <a:avLst/>
          </a:prstGeom>
          <a:noFill/>
        </p:spPr>
        <p:txBody>
          <a:bodyPr wrap="square">
            <a:spAutoFit/>
          </a:bodyPr>
          <a:lstStyle/>
          <a:p>
            <a:pPr>
              <a:spcAft>
                <a:spcPts val="1200"/>
              </a:spcAft>
            </a:pPr>
            <a:r>
              <a:rPr sz="2200" b="0">
                <a:solidFill>
                  <a:srgbClr val="B8C2D4"/>
                </a:solidFill>
                <a:latin typeface="Helvetica Neue"/>
              </a:rPr>
              <a:t>Notebook sections 1 to 6, then section 9</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a:solidFill>
                  <a:srgbClr val="141B2D"/>
                </a:solidFill>
                <a:latin typeface="Helvetica Neue"/>
              </a:rPr>
              <a:t>No text was stored, and the intent leaked anyway</a:t>
            </a:r>
          </a:p>
          <a:p>
            <a:pPr marL="342900" indent="-342900">
              <a:spcAft>
                <a:spcPts val="2000"/>
              </a:spcAft>
            </a:pPr>
            <a:r>
              <a:rPr sz="2400" b="1">
                <a:solidFill>
                  <a:srgbClr val="B4311A"/>
                </a:solidFill>
                <a:latin typeface="Helvetica Neue"/>
              </a:rPr>
              <a:t>-   </a:t>
            </a:r>
            <a:r>
              <a:rPr sz="2400" b="1">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fix and the proof</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The vector was never the problem, storing it readable was</a:t>
            </a:r>
          </a:p>
          <a:p>
            <a:pPr marL="342900" indent="-342900">
              <a:spcAft>
                <a:spcPts val="1400"/>
              </a:spcAft>
            </a:pPr>
            <a:r>
              <a:rPr sz="2100" b="1">
                <a:solidFill>
                  <a:srgbClr val="005EB8"/>
                </a:solidFill>
                <a:latin typeface="Helvetica Neue"/>
              </a:rPr>
              <a:t>-   </a:t>
            </a:r>
            <a:r>
              <a:rPr sz="2100" b="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a:solidFill>
                  <a:srgbClr val="141B2D"/>
                </a:solidFill>
                <a:latin typeface="Helvetica Neue"/>
              </a:rPr>
              <a:t>The cluster never receives a readable query, so there is nothing to scrub</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 is what we claim</a:t>
            </a:r>
          </a:p>
        </p:txBody>
      </p:sp>
      <p:pic>
        <p:nvPicPr>
          <p:cNvPr id="3" name="Picture 2" descr="08_laplace_tent_audit.png"/>
          <p:cNvPicPr>
            <a:picLocks noChangeAspect="1"/>
          </p:cNvPicPr>
          <p:nvPr/>
        </p:nvPicPr>
        <p:blipFill>
          <a:blip r:embed="rId2"/>
          <a:stretch>
            <a:fillRect/>
          </a:stretch>
        </p:blipFill>
        <p:spPr>
          <a:xfrm>
            <a:off x="2155300" y="1417320"/>
            <a:ext cx="7881094"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A biased mechanism would put the peak off the red line. The width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79197" y="1417320"/>
            <a:ext cx="7233300"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The category leaks well before the item does. At epsilon 1, neither is usable.</a:t>
            </a:r>
          </a:p>
        </p:txBody>
      </p:sp>
      <p:sp>
        <p:nvSpPr>
          <p:cNvPr id="5" name="TextBox 4"/>
          <p:cNvSpPr txBox="1"/>
          <p:nvPr/>
        </p:nvSpPr>
        <p:spPr>
          <a:xfrm>
            <a:off x="1325880" y="6355080"/>
            <a:ext cx="9509760" cy="502920"/>
          </a:xfrm>
          <a:prstGeom prst="rect">
            <a:avLst/>
          </a:prstGeom>
          <a:noFill/>
        </p:spPr>
        <p:txBody>
          <a:bodyPr wrap="square">
            <a:spAutoFit/>
          </a:bodyPr>
          <a:lstStyle/>
          <a:p>
            <a:pPr algn="ctr"/>
            <a:r>
              <a:rPr sz="1400" b="0">
                <a:solidFill>
                  <a:srgbClr val="5A647A"/>
                </a:solidFill>
                <a:latin typeface="Helvetica Neue"/>
              </a:rPr>
              <a:t>Data: WANDS, Wayfair product search relevance (ECIR 2022), MIT licensed: </a:t>
            </a:r>
            <a:r>
              <a:rPr sz="1400" b="0" u="sng">
                <a:solidFill>
                  <a:srgbClr val="005EB8"/>
                </a:solidFill>
                <a:latin typeface="Helvetica Neue"/>
                <a:hlinkClick r:id="rId3"/>
              </a:rPr>
              <a:t>github.com/wayfair/WANDS</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What it costs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That first demo was rigged</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It ran at epsilon 1.2 on a 20 document index</a:t>
            </a:r>
          </a:p>
          <a:p>
            <a:pPr marL="342900" indent="-342900">
              <a:spcAft>
                <a:spcPts val="2000"/>
              </a:spcAft>
            </a:pPr>
            <a:r>
              <a:rPr sz="2400" b="1">
                <a:solidFill>
                  <a:srgbClr val="B4311A"/>
                </a:solidFill>
                <a:latin typeface="Helvetica Neue"/>
              </a:rPr>
              <a:t>-   </a:t>
            </a:r>
            <a:r>
              <a:rPr sz="2400" b="0">
                <a:solidFill>
                  <a:srgbClr val="141B2D"/>
                </a:solidFill>
                <a:latin typeface="Helvetica Neue"/>
              </a:rPr>
              <a:t>The attacker learned nothing, and neither did the user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Epsilon 1.2 is barely better than guessing</a:t>
            </a:r>
          </a:p>
        </p:txBody>
      </p:sp>
      <p:pic>
        <p:nvPicPr>
          <p:cNvPr id="3" name="Picture 2" descr="07_epsilon_tradeoff_toy_index.png"/>
          <p:cNvPicPr>
            <a:picLocks noChangeAspect="1"/>
          </p:cNvPicPr>
          <p:nvPr/>
        </p:nvPicPr>
        <p:blipFill>
          <a:blip r:embed="rId2"/>
          <a:stretch>
            <a:fillRect/>
          </a:stretch>
        </p:blipFill>
        <p:spPr>
          <a:xfrm>
            <a:off x="2182624" y="1417320"/>
            <a:ext cx="782644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The red line is where the first demo ran. Utility only comes back where the attacker wins too.</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5</a:t>
            </a:r>
          </a:p>
          <a:p>
            <a:pPr>
              <a:spcBef>
                <a:spcPts val="1000"/>
              </a:spcBef>
            </a:pPr>
            <a:r>
              <a:rPr sz="4200" b="1">
                <a:solidFill>
                  <a:srgbClr val="FFFFFF"/>
                </a:solidFill>
                <a:latin typeface="Helvetica Neue"/>
              </a:rPr>
              <a:t>What you keep</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asymmetry is the whole point</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Laplace noise is zero-mean</a:t>
            </a:r>
          </a:p>
          <a:p>
            <a:pPr marL="342900" indent="-342900">
              <a:spcAft>
                <a:spcPts val="1400"/>
              </a:spcAft>
            </a:pPr>
            <a:r>
              <a:rPr sz="2100" b="1">
                <a:solidFill>
                  <a:srgbClr val="005EB8"/>
                </a:solidFill>
                <a:latin typeface="Helvetica Neue"/>
              </a:rPr>
              <a:t>-   </a:t>
            </a:r>
            <a:r>
              <a:rPr sz="2100" b="0">
                <a:solidFill>
                  <a:srgbClr val="141B2D"/>
                </a:solidFill>
                <a:latin typeface="Helvetica Neue"/>
              </a:rPr>
              <a:t>It cancels when you average over many independent users</a:t>
            </a:r>
          </a:p>
          <a:p>
            <a:pPr marL="342900" indent="-342900">
              <a:spcAft>
                <a:spcPts val="1400"/>
              </a:spcAft>
            </a:pPr>
            <a:r>
              <a:rPr sz="2100" b="1">
                <a:solidFill>
                  <a:srgbClr val="005EB8"/>
                </a:solidFill>
                <a:latin typeface="Helvetica Neue"/>
              </a:rPr>
              <a:t>-   </a:t>
            </a:r>
            <a:r>
              <a:rPr sz="2100" b="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a:solidFill>
                  <a:srgbClr val="141B2D"/>
                </a:solidFill>
                <a:latin typeface="Helvetica Neue"/>
              </a:rPr>
              <a:t>The trend across ten thousand people is not</a:t>
            </a:r>
          </a:p>
          <a:p>
            <a:pPr marL="342900" indent="-342900">
              <a:spcAft>
                <a:spcPts val="1400"/>
              </a:spcAft>
            </a:pPr>
            <a:r>
              <a:rPr sz="2100" b="1">
                <a:solidFill>
                  <a:srgbClr val="005EB8"/>
                </a:solidFill>
                <a:latin typeface="Helvetica Neue"/>
              </a:rPr>
              <a:t>-   </a:t>
            </a:r>
            <a:r>
              <a:rPr sz="2100" b="0">
                <a:solidFill>
                  <a:srgbClr val="141B2D"/>
                </a:solidFill>
                <a:latin typeface="Helvetica Neue"/>
              </a:rPr>
              <a:t>That trend is all UBI needs to tune relevance</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square">
            <a:spAutoFit/>
          </a:bodyPr>
          <a:lstStyle/>
          <a:p>
            <a:r>
              <a:rPr sz="1800" b="1">
                <a:solidFill>
                  <a:srgbClr val="5A9BE8"/>
                </a:solidFill>
                <a:latin typeface="Helvetica Neue"/>
              </a:rPr>
              <a:t>LIVE NOTEBOOK</a:t>
            </a:r>
          </a:p>
        </p:txBody>
      </p:sp>
      <p:sp>
        <p:nvSpPr>
          <p:cNvPr id="3" name="TextBox 2"/>
          <p:cNvSpPr txBox="1"/>
          <p:nvPr/>
        </p:nvSpPr>
        <p:spPr>
          <a:xfrm>
            <a:off x="822960" y="2377440"/>
            <a:ext cx="10515600" cy="1097280"/>
          </a:xfrm>
          <a:prstGeom prst="rect">
            <a:avLst/>
          </a:prstGeom>
          <a:noFill/>
        </p:spPr>
        <p:txBody>
          <a:bodyPr wrap="square">
            <a:spAutoFit/>
          </a:bodyPr>
          <a:lstStyle/>
          <a:p>
            <a:r>
              <a:rPr sz="3800" b="1">
                <a:solidFill>
                  <a:srgbClr val="FFFFFF"/>
                </a:solidFill>
                <a:latin typeface="Helvetica Neue"/>
              </a:rPr>
              <a:t>Demo: segments of real users</a:t>
            </a:r>
          </a:p>
        </p:txBody>
      </p:sp>
      <p:sp>
        <p:nvSpPr>
          <p:cNvPr id="4" name="TextBox 3"/>
          <p:cNvSpPr txBox="1"/>
          <p:nvPr/>
        </p:nvSpPr>
        <p:spPr>
          <a:xfrm>
            <a:off x="822960" y="3749039"/>
            <a:ext cx="10515600" cy="1828800"/>
          </a:xfrm>
          <a:prstGeom prst="rect">
            <a:avLst/>
          </a:prstGeom>
          <a:noFill/>
        </p:spPr>
        <p:txBody>
          <a:bodyPr wrap="square">
            <a:spAutoFit/>
          </a:bodyPr>
          <a:lstStyle/>
          <a:p>
            <a:pPr>
              <a:spcAft>
                <a:spcPts val="1200"/>
              </a:spcAft>
            </a:pPr>
            <a:r>
              <a:rPr sz="2200" b="0">
                <a:solidFill>
                  <a:srgbClr val="B8C2D4"/>
                </a:solidFill>
                <a:latin typeface="Helvetica Neue"/>
              </a:rPr>
              <a:t>Notebook section 11</a:t>
            </a:r>
          </a:p>
          <a:p>
            <a:pPr>
              <a:spcAft>
                <a:spcPts val="1200"/>
              </a:spcAft>
            </a:pPr>
            <a:r>
              <a:rPr sz="2200" b="0">
                <a:solidFill>
                  <a:srgbClr val="B8C2D4"/>
                </a:solidFill>
                <a:latin typeface="Helvetica Neue"/>
              </a:rPr>
              <a:t>480 real queries from Wayfair's WANDS dataset, grouped into 5 segments</a:t>
            </a:r>
          </a:p>
          <a:p>
            <a:pPr>
              <a:spcAft>
                <a:spcPts val="1200"/>
              </a:spcAft>
            </a:pPr>
            <a:r>
              <a:rPr sz="2200" b="0">
                <a:solidFill>
                  <a:srgbClr val="B8C2D4"/>
                </a:solidFill>
                <a:latin typeface="Helvetica Neue"/>
              </a:rPr>
              <a:t>Every user privatizes independently, on their own device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Error falls as 1 / sqrt(users)</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a:solidFill>
                  <a:srgbClr val="5A647A"/>
                </a:solidFill>
                <a:latin typeface="Helvetica Neue"/>
              </a:rPr>
              <a:t>Average the noised queries of </a:t>
            </a:r>
            <a:r>
              <a:rPr sz="1300" b="0">
                <a:solidFill>
                  <a:srgbClr val="5A647A"/>
                </a:solidFill>
                <a:latin typeface="Consolas"/>
              </a:rPr>
              <a:t>n</a:t>
            </a:r>
            <a:r>
              <a:rPr sz="1500" b="0">
                <a:solidFill>
                  <a:srgbClr val="5A647A"/>
                </a:solidFill>
                <a:latin typeface="Helvetica Neue"/>
              </a:rPr>
              <a:t> users in one segment, then see how far that average lands from the truth.</a:t>
            </a:r>
          </a:p>
        </p:txBody>
      </p:sp>
      <p:pic>
        <p:nvPicPr>
          <p:cNvPr id="4" name="Picture 3" descr="11_aggregate_convergence.png"/>
          <p:cNvPicPr>
            <a:picLocks noChangeAspect="1"/>
          </p:cNvPicPr>
          <p:nvPr/>
        </p:nvPicPr>
        <p:blipFill>
          <a:blip r:embed="rId2"/>
          <a:stretch>
            <a:fillRect/>
          </a:stretch>
        </p:blipFill>
        <p:spPr>
          <a:xfrm>
            <a:off x="2781192" y="1828800"/>
            <a:ext cx="6629310" cy="3931920"/>
          </a:xfrm>
          <a:prstGeom prst="rect">
            <a:avLst/>
          </a:prstGeom>
        </p:spPr>
      </p:pic>
      <p:sp>
        <p:nvSpPr>
          <p:cNvPr id="5" name="TextBox 4"/>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The red line is the smallest segment you can measure.</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How big a segment has to be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Error drops below the spread of the index at roughly 2,300 users</a:t>
            </a:r>
          </a:p>
          <a:p>
            <a:pPr marL="342900" indent="-342900">
              <a:spcAft>
                <a:spcPts val="2000"/>
              </a:spcAft>
            </a:pPr>
            <a:r>
              <a:rPr sz="2400" b="1">
                <a:solidFill>
                  <a:srgbClr val="005EB8"/>
                </a:solidFill>
                <a:latin typeface="Helvetica Neue"/>
              </a:rPr>
              <a:t>-   </a:t>
            </a:r>
            <a:r>
              <a:rPr sz="2400" b="0">
                <a:solidFill>
                  <a:srgbClr val="141B2D"/>
                </a:solidFill>
                <a:latin typeface="Helvetica Neue"/>
              </a:rPr>
              <a:t>That is at epsilon 1, and halving epsilon needs four times the users</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Segments with thousands of users are measurable under LDP</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Segments with dozens are not measurable</a:t>
            </a:r>
          </a:p>
          <a:p>
            <a:pPr marL="342900" indent="-342900">
              <a:spcAft>
                <a:spcPts val="2000"/>
              </a:spcAft>
            </a:pPr>
            <a:r>
              <a:rPr sz="2400" b="1">
                <a:solidFill>
                  <a:srgbClr val="005EB8"/>
                </a:solidFill>
                <a:latin typeface="Helvetica Neue"/>
              </a:rPr>
              <a:t>-   </a:t>
            </a:r>
            <a:r>
              <a:rPr sz="2400" b="0">
                <a:solidFill>
                  <a:srgbClr val="141B2D"/>
                </a:solidFill>
                <a:latin typeface="Helvetica Neue"/>
              </a:rPr>
              <a:t>Your head terms work, but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your analytics.</a:t>
            </a:r>
          </a:p>
          <a:p>
            <a:pPr>
              <a:spcAft>
                <a:spcPts val="1600"/>
              </a:spcAft>
            </a:pPr>
            <a:r>
              <a:rPr sz="3400" b="0">
                <a:solidFill>
                  <a:srgbClr val="005EB8"/>
                </a:solidFill>
                <a:latin typeface="Helvetica Neue"/>
              </a:rPr>
              <a:t>It costs you the ability to ask about one person.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6</a:t>
            </a:r>
          </a:p>
          <a:p>
            <a:pPr>
              <a:spcBef>
                <a:spcPts val="1000"/>
              </a:spcBef>
            </a:pPr>
            <a:r>
              <a:rPr sz="4200" b="1">
                <a:solidFill>
                  <a:srgbClr val="FFFFFF"/>
                </a:solidFill>
                <a:latin typeface="Helvetica Neue"/>
              </a:rPr>
              <a:t>Back in OpenSearch</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On the device, before </a:t>
            </a:r>
            <a:r>
              <a:rPr sz="1900" b="0">
                <a:solidFill>
                  <a:srgbClr val="141B2D"/>
                </a:solidFill>
                <a:latin typeface="Consolas"/>
              </a:rPr>
              <a:t>ubi.js</a:t>
            </a:r>
            <a:r>
              <a:rPr sz="2100" b="0">
                <a:solidFill>
                  <a:srgbClr val="141B2D"/>
                </a:solidFill>
                <a:latin typeface="Helvetica Neue"/>
              </a:rPr>
              <a:t> sends the event</a:t>
            </a:r>
          </a:p>
          <a:p>
            <a:pPr marL="342900" indent="-342900">
              <a:spcAft>
                <a:spcPts val="1400"/>
              </a:spcAft>
            </a:pPr>
            <a:r>
              <a:rPr sz="2100" b="1">
                <a:solidFill>
                  <a:srgbClr val="005EB8"/>
                </a:solidFill>
                <a:latin typeface="Helvetica Neue"/>
              </a:rPr>
              <a:t>-   </a:t>
            </a:r>
            <a:r>
              <a:rPr sz="2100" b="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a:solidFill>
                  <a:srgbClr val="141B2D"/>
                </a:solidFill>
                <a:latin typeface="Helvetica Neue"/>
              </a:rPr>
              <a:t>You set epsilon in the client you ship</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An upcoming UBI RFC will bring this capability into </a:t>
            </a:r>
            <a:r>
              <a:rPr sz="1200" b="0">
                <a:solidFill>
                  <a:srgbClr val="5A647A"/>
                </a:solidFill>
                <a:latin typeface="Consolas"/>
              </a:rPr>
              <a:t>ubi.js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What changes in ubi_queries</a:t>
            </a:r>
          </a:p>
        </p:txBody>
      </p:sp>
      <p:pic>
        <p:nvPicPr>
          <p:cNvPr id="3" name="Picture 2" descr="28_ubi_document.png"/>
          <p:cNvPicPr>
            <a:picLocks noChangeAspect="1"/>
          </p:cNvPicPr>
          <p:nvPr/>
        </p:nvPicPr>
        <p:blipFill>
          <a:blip r:embed="rId2"/>
          <a:stretch>
            <a:fillRect/>
          </a:stretch>
        </p:blipFill>
        <p:spPr>
          <a:xfrm>
            <a:off x="1070391" y="1417320"/>
            <a:ext cx="10050912" cy="4343400"/>
          </a:xfrm>
          <a:prstGeom prst="rect">
            <a:avLst/>
          </a:prstGeom>
        </p:spPr>
      </p:pic>
      <p:sp>
        <p:nvSpPr>
          <p:cNvPr id="4" name="TextBox 3"/>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UBI supports this today through </a:t>
            </a:r>
            <a:r>
              <a:rPr sz="1200" b="0">
                <a:solidFill>
                  <a:srgbClr val="5A647A"/>
                </a:solidFill>
                <a:latin typeface="Consolas"/>
              </a:rPr>
              <a:t>query_attributes</a:t>
            </a:r>
            <a:r>
              <a:rPr sz="1400" b="0">
                <a:solidFill>
                  <a:srgbClr val="5A647A"/>
                </a:solidFill>
                <a:latin typeface="Helvetica Neue"/>
              </a:rPr>
              <a:t>, and the RFC will propose making it first-class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Segment-level training signal for learning-to-rank</a:t>
            </a:r>
          </a:p>
          <a:p>
            <a:pPr marL="342900" indent="-342900">
              <a:spcAft>
                <a:spcPts val="2000"/>
              </a:spcAft>
            </a:pPr>
            <a:r>
              <a:rPr sz="2400" b="1">
                <a:solidFill>
                  <a:srgbClr val="005EB8"/>
                </a:solidFill>
                <a:latin typeface="Helvetica Neue"/>
              </a:rPr>
              <a:t>-   </a:t>
            </a:r>
            <a:r>
              <a:rPr sz="2400" b="0">
                <a:solidFill>
                  <a:srgbClr val="141B2D"/>
                </a:solidFill>
                <a:latin typeface="Helvetica Neue"/>
              </a:rPr>
              <a:t>What they cannot do is show you one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The category leaks and that is worse for medicine than furniture</a:t>
            </a:r>
          </a:p>
          <a:p>
            <a:pPr marL="342900" indent="-342900">
              <a:spcAft>
                <a:spcPts val="2000"/>
              </a:spcAft>
            </a:pPr>
            <a:r>
              <a:rPr sz="2400" b="1">
                <a:solidFill>
                  <a:srgbClr val="B4311A"/>
                </a:solidFill>
                <a:latin typeface="Helvetica Neue"/>
              </a:rPr>
              <a:t>-   </a:t>
            </a:r>
            <a:r>
              <a:rPr sz="2400" b="0">
                <a:solidFill>
                  <a:srgbClr val="141B2D"/>
                </a:solidFill>
                <a:latin typeface="Helvetica Neue"/>
              </a:rPr>
              <a:t>What a given epsilon buys you depends on coordinate spread so it does not transfer between indexes</a:t>
            </a:r>
          </a:p>
          <a:p>
            <a:pPr marL="342900" indent="-342900">
              <a:spcAft>
                <a:spcPts val="2000"/>
              </a:spcAft>
            </a:pPr>
            <a:r>
              <a:rPr sz="2400" b="1">
                <a:solidFill>
                  <a:srgbClr val="B4311A"/>
                </a:solidFill>
                <a:latin typeface="Helvetica Neue"/>
              </a:rPr>
              <a:t>-   </a:t>
            </a:r>
            <a:r>
              <a:rPr sz="2400" b="0">
                <a:solidFill>
                  <a:srgbClr val="141B2D"/>
                </a:solidFill>
                <a:latin typeface="Helvetica Neue"/>
              </a:rPr>
              <a:t>Low-traffic segments stay unmeasurable</a:t>
            </a:r>
          </a:p>
          <a:p>
            <a:pPr marL="342900" indent="-342900">
              <a:spcAft>
                <a:spcPts val="2000"/>
              </a:spcAft>
            </a:pPr>
            <a:r>
              <a:rPr sz="2400" b="1">
                <a:solidFill>
                  <a:srgbClr val="B4311A"/>
                </a:solidFill>
                <a:latin typeface="Helvetica Neue"/>
              </a:rPr>
              <a:t>-   </a:t>
            </a:r>
            <a:r>
              <a:rPr sz="2400" b="0">
                <a:solidFill>
                  <a:srgbClr val="141B2D"/>
                </a:solidFill>
                <a:latin typeface="Helvetica Neue"/>
              </a:rPr>
              <a:t>This protects </a:t>
            </a:r>
            <a:r>
              <a:rPr sz="2200" b="0">
                <a:solidFill>
                  <a:srgbClr val="141B2D"/>
                </a:solidFill>
                <a:latin typeface="Consolas"/>
              </a:rPr>
              <a:t>user_query</a:t>
            </a:r>
            <a:r>
              <a:rPr sz="2400" b="0">
                <a:solidFill>
                  <a:srgbClr val="141B2D"/>
                </a:solidFill>
                <a:latin typeface="Helvetica Neue"/>
              </a:rPr>
              <a:t> but </a:t>
            </a:r>
            <a:r>
              <a:rPr sz="2200" b="0">
                <a:solidFill>
                  <a:srgbClr val="141B2D"/>
                </a:solidFill>
                <a:latin typeface="Consolas"/>
              </a:rPr>
              <a:t>ubi_events</a:t>
            </a:r>
            <a:r>
              <a:rPr sz="2400" b="0">
                <a:solidFill>
                  <a:srgbClr val="141B2D"/>
                </a:solidFill>
                <a:latin typeface="Helvetica Neue"/>
              </a:rPr>
              <a:t> still holds clicks and ids in the clear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a:solidFill>
                  <a:srgbClr val="141B2D"/>
                </a:solidFill>
                <a:latin typeface="Helvetica Neue"/>
              </a:rPr>
              <a:t>Keeping sensitive data out of the index beats redacting it later</a:t>
            </a:r>
          </a:p>
          <a:p>
            <a:pPr marL="342900" indent="-342900">
              <a:spcAft>
                <a:spcPts val="2000"/>
              </a:spcAft>
            </a:pPr>
            <a:r>
              <a:rPr sz="2400" b="1">
                <a:solidFill>
                  <a:srgbClr val="005EB8"/>
                </a:solidFill>
                <a:latin typeface="Helvetica Neue"/>
              </a:rPr>
              <a:t>-   </a:t>
            </a:r>
            <a:r>
              <a:rPr sz="2400" b="0">
                <a:solidFill>
                  <a:srgbClr val="141B2D"/>
                </a:solidFill>
                <a:latin typeface="Helvetica Neue"/>
              </a:rPr>
              <a:t>Verify the mechanism by attacking it, not by trusting it</a:t>
            </a:r>
          </a:p>
          <a:p>
            <a:pPr marL="342900" indent="-342900">
              <a:spcAft>
                <a:spcPts val="2000"/>
              </a:spcAft>
            </a:pPr>
            <a:r>
              <a:rPr sz="2400" b="1">
                <a:solidFill>
                  <a:srgbClr val="005EB8"/>
                </a:solidFill>
                <a:latin typeface="Helvetica Neue"/>
              </a:rPr>
              <a:t>-   </a:t>
            </a:r>
            <a:r>
              <a:rPr sz="2400" b="0">
                <a:solidFill>
                  <a:srgbClr val="005EB8"/>
                </a:solidFill>
                <a:latin typeface="Helvetica Neue"/>
              </a:rPr>
              <a:t>You trade individual resolution for population accuracy, and relevance only needs the latter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a:solidFill>
                  <a:srgbClr val="8EB8E8"/>
                </a:solidFill>
                <a:latin typeface="Helvetica Neue"/>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Rectangle 3"/>
          <p:cNvSpPr/>
          <p:nvPr/>
        </p:nvSpPr>
        <p:spPr>
          <a:xfrm>
            <a:off x="8771839" y="1975104"/>
            <a:ext cx="2724912" cy="2724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veraging-ldp-for-high-trust-opensearch-ubi_zemerick_1212636_feedback-code.png"/>
          <p:cNvPicPr>
            <a:picLocks noChangeAspect="1"/>
          </p:cNvPicPr>
          <p:nvPr/>
        </p:nvPicPr>
        <p:blipFill>
          <a:blip r:embed="rId2"/>
          <a:stretch>
            <a:fillRect/>
          </a:stretch>
        </p:blipFill>
        <p:spPr>
          <a:xfrm>
            <a:off x="8899855" y="2103120"/>
            <a:ext cx="2468880" cy="2468880"/>
          </a:xfrm>
          <a:prstGeom prst="rect">
            <a:avLst/>
          </a:prstGeom>
        </p:spPr>
      </p:pic>
      <p:sp>
        <p:nvSpPr>
          <p:cNvPr id="6" name="TextBox 5"/>
          <p:cNvSpPr txBox="1"/>
          <p:nvPr/>
        </p:nvSpPr>
        <p:spPr>
          <a:xfrm>
            <a:off x="8771839" y="4809744"/>
            <a:ext cx="2724912" cy="365760"/>
          </a:xfrm>
          <a:prstGeom prst="rect">
            <a:avLst/>
          </a:prstGeom>
          <a:noFill/>
        </p:spPr>
        <p:txBody>
          <a:bodyPr wrap="square">
            <a:spAutoFit/>
          </a:bodyPr>
          <a:lstStyle/>
          <a:p>
            <a:pPr algn="ctr"/>
            <a:r>
              <a:rPr sz="1400" b="0">
                <a:solidFill>
                  <a:srgbClr val="8EB8E8"/>
                </a:solidFill>
                <a:latin typeface="Helvetica Neue"/>
              </a:rPr>
              <a:t>Session feedback</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