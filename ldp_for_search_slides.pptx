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technique a reference point before defining it. Most of the room has heard that the 2020 US Census used differential privacy, and that is the central flavour: the Bureau collects every raw response, holds it, and adds noise to the tables it publishes. The guarantee is about what leaves the building. That works because there is a curator everyone is willing to trust, backed by law. Part 1 was the argument that we do not have one. Legal will not let the cluster hold readable queries, so the noise has to go in before anything is sent, which is the local flavour. Be honest about the price, because it is the whole reason central DP exists: noising one aggregate needs far less noise than noising every record, so central DP is much more accurate at the same epsilon. Everything after this slide is the cost of removing the curator, and whether the numbers still work. Apple and Google are the credibility point if anyone thinks local DP is academic. Apple has shipped it on iOS for years to learn which emoji and which QuickType suggestions are popular, and Google ships RAPPOR in Chrome. The emoji case is worth spelling out, because it is our problem exactly: they learn which emoji are trending across everyone without learning which emoji you sent. Swap emoji for queries and that is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next part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16's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and now the only place section 11's result appears, so open with it. 480 real WANDS queries in five segments, every user privatizing independently on their own device, no readable query anywhere and no trusted intermediate step. Individual recovery per segment runs 0.020, 0.020, 0.063, 0.070 and 0.030 against chance of 0.014 to 0.031, roughly one to two and a half times chance, which is not usable. Segment identification is 5 of 5, exact. Same data, same epsilon of 1.0, two different questions. Then the plot. Take the shape first. More users, less error. The measured green line tracks the predicted grey one across four orders of magnitude. This is ordinary statistics, so say so: averaging n independent things shrinks the noise as one over root n, the same reason a poll of four thousand beats one of one thousand. Nothing here is special to privacy. Then the red line. Read it off the bottom axis: 2,300 users. That is the answer, and it is the next slide. If asked where 2,300 comes from, it is where the measured error drops under 0.128, the average spread of one coordinate across the index. That bar is strict on purpose. Two typical products sit about 0.82 apart, so the line is roughly six times stricter than just telling products apart.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2,300 is where the measured error crosses the spread of the index, 0.128, on the convergence plot. It is not a constant: error goes as one over epsilon times one over root n, so the threshold scales as one over epsilon squared. At epsilon 0.5 it is about 9,200 users, at epsilon 2 it is about 575.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convergence plot and the previous slide.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limitations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expands the learning-to-rank bullet on the previous slide, and it is the one place to be careful, because it is a recipe rather than a result. Nothing in this talk trains a ranker. Say so if asked. What is measured is the inputs: clicks were never touched by the mechanism, and the segment centroid is accurate above roughly 2,300 users. The labels are therefore exactly what they are today. What moves is the key. You cannot read a query, so you cannot build judgment lists per query string, and you cannot recompute BM25 against words you do not have. You group by segment instead and use its centroid as the query representation, which suits an embedding ranker and suits a term-based feature set badly. Walk the example slowly, it is the whole slide: a few thousand people search for beds, every one of them privatizes on their own device, and the server averages what arrives into a centroid that is accurate but belongs to nobody. The clicks sitting next to it were never noised. That pair, the centroid and the clicks, is a training example. Beds is the cohort behind the convergence plot, so this is the same segment they have already seen measured. Name the category honestly: this is closer to intent-based ranking profiles than to per-query learning-to-rank, and it is coarser, because every query in a segment collapses to one key. If someone asks how much that costs, say it has not been measured and that the two losses separate: keying on segments instead of queries is a modelling choice you can evaluate on clean data with no privacy involved, while the noise itself costs almost nothing above 2,300 users, which is what the convergence plot showed. Everything inherits the segment constraint from earlier: head segments train, the long tail does not reach the user count.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learning.apple.com/research/learning-with-privacy-at-scal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 at Mountain Fog</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What queries, what's clicked, and where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measurement you are guessing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can't be trained on guesses</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what we use to tune search</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1463040"/>
          </a:xfrm>
          <a:prstGeom prst="rect">
            <a:avLst/>
          </a:prstGeom>
          <a:noFill/>
        </p:spPr>
        <p:txBody>
          <a:bodyPr wrap="square">
            <a:spAutoFit/>
          </a:bodyPr>
          <a:lstStyle/>
          <a:p>
            <a:r>
              <a:rPr sz="3400" b="1">
                <a:solidFill>
                  <a:srgbClr val="141B2D"/>
                </a:solidFill>
                <a:latin typeface="Helvetica Neue"/>
              </a:rPr>
              <a:t>But what about when we don't know the user queries?</a:t>
            </a:r>
          </a:p>
        </p:txBody>
      </p:sp>
      <p:sp>
        <p:nvSpPr>
          <p:cNvPr id="3" name="Rectangle 2"/>
          <p:cNvSpPr/>
          <p:nvPr/>
        </p:nvSpPr>
        <p:spPr>
          <a:xfrm>
            <a:off x="822960" y="1803399"/>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515600" cy="352044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Intent can be recovered</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Local Differential Privacy</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Two places to add the noise</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Differential privacy comes in two shapes, and the difference is who you trust</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Central DP</a:t>
                      </a:r>
                    </a:p>
                  </a:txBody>
                  <a:tcPr anchor="ctr">
                    <a:solidFill>
                      <a:srgbClr val="005EB8"/>
                    </a:solidFill>
                  </a:tcPr>
                </a:tc>
                <a:tc>
                  <a:txBody>
                    <a:bodyPr/>
                    <a:lstStyle/>
                    <a:p>
                      <a:pPr algn="ctr"/>
                      <a:r>
                        <a:rPr sz="1800" b="1">
                          <a:solidFill>
                            <a:srgbClr val="FFFFFF"/>
                          </a:solidFill>
                          <a:latin typeface="Helvetica Neue"/>
                        </a:rPr>
                        <a:t>Local DP</a:t>
                      </a:r>
                    </a:p>
                  </a:txBody>
                  <a:tcPr anchor="ctr">
                    <a:solidFill>
                      <a:srgbClr val="005EB8"/>
                    </a:solidFill>
                  </a:tcPr>
                </a:tc>
              </a:tr>
              <a:tr h="566928">
                <a:tc>
                  <a:txBody>
                    <a:bodyPr/>
                    <a:lstStyle/>
                    <a:p>
                      <a:pPr algn="l"/>
                      <a:r>
                        <a:rPr sz="1800" b="0">
                          <a:solidFill>
                            <a:srgbClr val="141B2D"/>
                          </a:solidFill>
                          <a:latin typeface="Helvetica Neue"/>
                        </a:rPr>
                        <a:t>Noise is added</a:t>
                      </a:r>
                    </a:p>
                  </a:txBody>
                  <a:tcPr anchor="ctr">
                    <a:solidFill>
                      <a:srgbClr val="F4F7FB"/>
                    </a:solidFill>
                  </a:tcPr>
                </a:tc>
                <a:tc>
                  <a:txBody>
                    <a:bodyPr/>
                    <a:lstStyle/>
                    <a:p>
                      <a:pPr algn="ctr"/>
                      <a:r>
                        <a:rPr sz="1800" b="0">
                          <a:solidFill>
                            <a:srgbClr val="141B2D"/>
                          </a:solidFill>
                          <a:latin typeface="Helvetica Neue"/>
                        </a:rPr>
                        <a:t>After collection</a:t>
                      </a:r>
                    </a:p>
                  </a:txBody>
                  <a:tcPr anchor="ctr">
                    <a:solidFill>
                      <a:srgbClr val="F4F7FB"/>
                    </a:solidFill>
                  </a:tcPr>
                </a:tc>
                <a:tc>
                  <a:txBody>
                    <a:bodyPr/>
                    <a:lstStyle/>
                    <a:p>
                      <a:pPr algn="ctr"/>
                      <a:r>
                        <a:rPr sz="1800" b="0">
                          <a:solidFill>
                            <a:srgbClr val="141B2D"/>
                          </a:solidFill>
                          <a:latin typeface="Helvetica Neue"/>
                        </a:rPr>
                        <a:t>On the device</a:t>
                      </a:r>
                    </a:p>
                  </a:txBody>
                  <a:tcPr anchor="ctr">
                    <a:solidFill>
                      <a:srgbClr val="F4F7FB"/>
                    </a:solidFill>
                  </a:tcPr>
                </a:tc>
              </a:tr>
              <a:tr h="566928">
                <a:tc>
                  <a:txBody>
                    <a:bodyPr/>
                    <a:lstStyle/>
                    <a:p>
                      <a:pPr algn="l"/>
                      <a:r>
                        <a:rPr sz="1800" b="0">
                          <a:solidFill>
                            <a:srgbClr val="141B2D"/>
                          </a:solidFill>
                          <a:latin typeface="Helvetica Neue"/>
                        </a:rPr>
                        <a:t>Who sees the raw data</a:t>
                      </a:r>
                    </a:p>
                  </a:txBody>
                  <a:tcPr anchor="ctr">
                    <a:solidFill>
                      <a:srgbClr val="FFFFFF"/>
                    </a:solidFill>
                  </a:tcPr>
                </a:tc>
                <a:tc>
                  <a:txBody>
                    <a:bodyPr/>
                    <a:lstStyle/>
                    <a:p>
                      <a:pPr algn="ctr"/>
                      <a:r>
                        <a:rPr sz="1800" b="0">
                          <a:solidFill>
                            <a:srgbClr val="141B2D"/>
                          </a:solidFill>
                          <a:latin typeface="Helvetica Neue"/>
                        </a:rPr>
                        <a:t>A trusted curator</a:t>
                      </a:r>
                    </a:p>
                  </a:txBody>
                  <a:tcPr anchor="ctr">
                    <a:solidFill>
                      <a:srgbClr val="FFFFFF"/>
                    </a:solidFill>
                  </a:tcPr>
                </a:tc>
                <a:tc>
                  <a:txBody>
                    <a:bodyPr/>
                    <a:lstStyle/>
                    <a:p>
                      <a:pPr algn="ctr"/>
                      <a:r>
                        <a:rPr sz="1800" b="0">
                          <a:solidFill>
                            <a:srgbClr val="141B2D"/>
                          </a:solidFill>
                          <a:latin typeface="Helvetica Neue"/>
                        </a:rPr>
                        <a:t>No one</a:t>
                      </a:r>
                    </a:p>
                  </a:txBody>
                  <a:tcPr anchor="ctr">
                    <a:solidFill>
                      <a:srgbClr val="FFFFFF"/>
                    </a:solidFill>
                  </a:tcPr>
                </a:tc>
              </a:tr>
              <a:tr h="566928">
                <a:tc>
                  <a:txBody>
                    <a:bodyPr/>
                    <a:lstStyle/>
                    <a:p>
                      <a:pPr algn="l"/>
                      <a:r>
                        <a:rPr sz="1800" b="0">
                          <a:solidFill>
                            <a:srgbClr val="141B2D"/>
                          </a:solidFill>
                          <a:latin typeface="Helvetica Neue"/>
                        </a:rPr>
                        <a:t>Who uses it</a:t>
                      </a:r>
                    </a:p>
                  </a:txBody>
                  <a:tcPr anchor="ctr">
                    <a:solidFill>
                      <a:srgbClr val="F4F7FB"/>
                    </a:solidFill>
                  </a:tcPr>
                </a:tc>
                <a:tc>
                  <a:txBody>
                    <a:bodyPr/>
                    <a:lstStyle/>
                    <a:p>
                      <a:pPr algn="ctr"/>
                      <a:r>
                        <a:rPr sz="1800" b="0">
                          <a:solidFill>
                            <a:srgbClr val="141B2D"/>
                          </a:solidFill>
                          <a:latin typeface="Helvetica Neue"/>
                        </a:rPr>
                        <a:t>The 2020 US Census</a:t>
                      </a:r>
                    </a:p>
                  </a:txBody>
                  <a:tcPr anchor="ctr">
                    <a:solidFill>
                      <a:srgbClr val="F4F7FB"/>
                    </a:solidFill>
                  </a:tcPr>
                </a:tc>
                <a:tc>
                  <a:txBody>
                    <a:bodyPr/>
                    <a:lstStyle/>
                    <a:p>
                      <a:pPr algn="ctr"/>
                      <a:r>
                        <a:rPr sz="1800" b="0">
                          <a:solidFill>
                            <a:srgbClr val="141B2D"/>
                          </a:solidFill>
                          <a:latin typeface="Helvetica Neue"/>
                        </a:rPr>
                        <a:t>Apple emoji trends</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800" b="0" i="0">
                <a:solidFill>
                  <a:srgbClr val="141B2D"/>
                </a:solidFill>
                <a:latin typeface="Helvetica Neue"/>
              </a:rPr>
              <a:t>The Census Bureau sees every raw response, then noises what it publishes.</a:t>
            </a:r>
          </a:p>
          <a:p>
            <a:pPr>
              <a:spcAft>
                <a:spcPts val="800"/>
              </a:spcAft>
            </a:pPr>
            <a:r>
              <a:rPr sz="1800" b="0" i="0">
                <a:solidFill>
                  <a:srgbClr val="141B2D"/>
                </a:solidFill>
                <a:latin typeface="Helvetica Neue"/>
              </a:rPr>
              <a:t>Apple never sees your emoji, only a noised count from every phone.</a:t>
            </a:r>
          </a:p>
        </p:txBody>
      </p:sp>
      <p:sp>
        <p:nvSpPr>
          <p:cNvPr id="7" name="TextBox 6"/>
          <p:cNvSpPr txBox="1"/>
          <p:nvPr/>
        </p:nvSpPr>
        <p:spPr>
          <a:xfrm>
            <a:off x="822960" y="5943600"/>
            <a:ext cx="8961120" cy="502920"/>
          </a:xfrm>
          <a:prstGeom prst="rect">
            <a:avLst/>
          </a:prstGeom>
          <a:noFill/>
        </p:spPr>
        <p:txBody>
          <a:bodyPr wrap="square">
            <a:spAutoFit/>
          </a:bodyPr>
          <a:lstStyle/>
          <a:p>
            <a:r>
              <a:rPr sz="1400" b="0" i="0">
                <a:solidFill>
                  <a:srgbClr val="5A647A"/>
                </a:solidFill>
                <a:latin typeface="Helvetica Neue"/>
              </a:rPr>
              <a:t>Apple, Learning with Privacy at Scale, 2017: </a:t>
            </a:r>
            <a:r>
              <a:rPr sz="1400" b="0" u="sng">
                <a:solidFill>
                  <a:srgbClr val="005EB8"/>
                </a:solidFill>
                <a:latin typeface="Helvetica Neue"/>
                <a:hlinkClick r:id="rId2"/>
              </a:rPr>
              <a:t>machinelearning.apple.com</a:t>
            </a:r>
          </a:p>
        </p:txBody>
      </p:sp>
      <p:sp>
        <p:nvSpPr>
          <p:cNvPr id="8" name="TextBox 7"/>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Epsilon 1.2 is barely better than guessing</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where the Part 2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Average the noised queries of </a:t>
            </a:r>
            <a:r>
              <a:rPr sz="1300" b="0">
                <a:solidFill>
                  <a:srgbClr val="5A647A"/>
                </a:solidFill>
                <a:latin typeface="Consolas"/>
              </a:rPr>
              <a:t>n</a:t>
            </a:r>
            <a:r>
              <a:rPr sz="1500" b="0" i="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1192" y="1828800"/>
            <a:ext cx="6629310"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the smallest segment you can measure.</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Error drops below the spread of the index at roughly 2,300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Segments too small? Add users or widen them, and leave epsilon alone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Training learning-to-rank on noised queries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labels were never protected, so what changes is what you key them on</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Classic LTR</a:t>
                      </a:r>
                    </a:p>
                  </a:txBody>
                  <a:tcPr anchor="ctr">
                    <a:solidFill>
                      <a:srgbClr val="005EB8"/>
                    </a:solidFill>
                  </a:tcPr>
                </a:tc>
                <a:tc>
                  <a:txBody>
                    <a:bodyPr/>
                    <a:lstStyle/>
                    <a:p>
                      <a:pPr algn="ctr"/>
                      <a:r>
                        <a:rPr sz="1800" b="1">
                          <a:solidFill>
                            <a:srgbClr val="FFFFFF"/>
                          </a:solidFill>
                          <a:latin typeface="Helvetica Neue"/>
                        </a:rPr>
                        <a:t>Under LDP</a:t>
                      </a:r>
                    </a:p>
                  </a:txBody>
                  <a:tcPr anchor="ctr">
                    <a:solidFill>
                      <a:srgbClr val="005EB8"/>
                    </a:solidFill>
                  </a:tcPr>
                </a:tc>
              </a:tr>
              <a:tr h="566928">
                <a:tc>
                  <a:txBody>
                    <a:bodyPr/>
                    <a:lstStyle/>
                    <a:p>
                      <a:pPr algn="l"/>
                      <a:r>
                        <a:rPr sz="1800" b="0">
                          <a:solidFill>
                            <a:srgbClr val="141B2D"/>
                          </a:solidFill>
                          <a:latin typeface="Helvetica Neue"/>
                        </a:rPr>
                        <a:t>Labels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r>
              <a:tr h="566928">
                <a:tc>
                  <a:txBody>
                    <a:bodyPr/>
                    <a:lstStyle/>
                    <a:p>
                      <a:pPr algn="l"/>
                      <a:r>
                        <a:rPr sz="1800" b="0">
                          <a:solidFill>
                            <a:srgbClr val="141B2D"/>
                          </a:solidFill>
                          <a:latin typeface="Helvetica Neue"/>
                        </a:rPr>
                        <a:t>Keyed on</a:t>
                      </a:r>
                    </a:p>
                  </a:txBody>
                  <a:tcPr anchor="ctr">
                    <a:solidFill>
                      <a:srgbClr val="FFFFFF"/>
                    </a:solidFill>
                  </a:tcPr>
                </a:tc>
                <a:tc>
                  <a:txBody>
                    <a:bodyPr/>
                    <a:lstStyle/>
                    <a:p>
                      <a:pPr algn="ctr"/>
                      <a:r>
                        <a:rPr sz="1800" b="0">
                          <a:solidFill>
                            <a:srgbClr val="141B2D"/>
                          </a:solidFill>
                          <a:latin typeface="Helvetica Neue"/>
                        </a:rPr>
                        <a:t>The query</a:t>
                      </a:r>
                    </a:p>
                  </a:txBody>
                  <a:tcPr anchor="ctr">
                    <a:solidFill>
                      <a:srgbClr val="FFFFFF"/>
                    </a:solidFill>
                  </a:tcPr>
                </a:tc>
                <a:tc>
                  <a:txBody>
                    <a:bodyPr/>
                    <a:lstStyle/>
                    <a:p>
                      <a:pPr algn="ctr"/>
                      <a:r>
                        <a:rPr sz="1800" b="0">
                          <a:solidFill>
                            <a:srgbClr val="141B2D"/>
                          </a:solidFill>
                          <a:latin typeface="Helvetica Neue"/>
                        </a:rPr>
                        <a:t>The segment</a:t>
                      </a:r>
                    </a:p>
                  </a:txBody>
                  <a:tcPr anchor="ctr">
                    <a:solidFill>
                      <a:srgbClr val="FFFFFF"/>
                    </a:solidFill>
                  </a:tcPr>
                </a:tc>
              </a:tr>
              <a:tr h="566928">
                <a:tc>
                  <a:txBody>
                    <a:bodyPr/>
                    <a:lstStyle/>
                    <a:p>
                      <a:pPr algn="l"/>
                      <a:r>
                        <a:rPr sz="1800" b="0">
                          <a:solidFill>
                            <a:srgbClr val="141B2D"/>
                          </a:solidFill>
                          <a:latin typeface="Helvetica Neue"/>
                        </a:rPr>
                        <a:t>Query features</a:t>
                      </a:r>
                    </a:p>
                  </a:txBody>
                  <a:tcPr anchor="ctr">
                    <a:solidFill>
                      <a:srgbClr val="F4F7FB"/>
                    </a:solidFill>
                  </a:tcPr>
                </a:tc>
                <a:tc>
                  <a:txBody>
                    <a:bodyPr/>
                    <a:lstStyle/>
                    <a:p>
                      <a:pPr algn="ctr"/>
                      <a:r>
                        <a:rPr sz="1800" b="0">
                          <a:solidFill>
                            <a:srgbClr val="141B2D"/>
                          </a:solidFill>
                          <a:latin typeface="Helvetica Neue"/>
                        </a:rPr>
                        <a:t>BM25 and term matches</a:t>
                      </a:r>
                    </a:p>
                  </a:txBody>
                  <a:tcPr anchor="ctr">
                    <a:solidFill>
                      <a:srgbClr val="F4F7FB"/>
                    </a:solidFill>
                  </a:tcPr>
                </a:tc>
                <a:tc>
                  <a:txBody>
                    <a:bodyPr/>
                    <a:lstStyle/>
                    <a:p>
                      <a:pPr algn="ctr"/>
                      <a:r>
                        <a:rPr sz="1800" b="0">
                          <a:solidFill>
                            <a:srgbClr val="141B2D"/>
                          </a:solidFill>
                          <a:latin typeface="Helvetica Neue"/>
                        </a:rPr>
                        <a:t>The segment centroid</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600" b="0">
                <a:solidFill>
                  <a:srgbClr val="141B2D"/>
                </a:solidFill>
                <a:latin typeface="Consolas"/>
              </a:rPr>
              <a:t>ubi_events</a:t>
            </a:r>
            <a:r>
              <a:rPr sz="1800" b="0" i="0">
                <a:solidFill>
                  <a:srgbClr val="141B2D"/>
                </a:solidFill>
                <a:latin typeface="Helvetica Neue"/>
              </a:rPr>
              <a:t> still shows which results were clicked</a:t>
            </a:r>
          </a:p>
          <a:p>
            <a:pPr>
              <a:spcAft>
                <a:spcPts val="800"/>
              </a:spcAft>
            </a:pPr>
            <a:r>
              <a:rPr sz="1800" b="0" i="0">
                <a:solidFill>
                  <a:srgbClr val="141B2D"/>
                </a:solidFill>
                <a:latin typeface="Helvetica Neue"/>
              </a:rPr>
              <a:t>Intent-based ranking profiles: for bed shoppers, boost these attributes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