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redaction work is no longer a bullet but is still worth saying out loud,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has to understand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the epsilon sweep later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longest part by far, because it carries the mechanism, the evidence, the cost and the payoff. Three evidence slides in order of strength, the distribution audit, then the epsilon comparison, then the attacker. Then what the noise costs, then what survives it. No divider marks the payoff any more, so the turn from the epsilon sweep to the asymmetry slide is yours to make out loud.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technique a reference point before defining it. Most of the room has heard that the 2020 US Census used differential privacy, and that is the central flavour: the Bureau collects every raw response, holds it, and adds noise to the tables it publishes. The guarantee is about what leaves the building. That works because there is a curator everyone is willing to trust, backed by law. Part 1 was the argument that we do not have one. Legal will not let the cluster hold readable queries, so the noise has to go in before anything is sent, which is the local flavour. Be honest about the price, because it is the whole reason central DP exists: noising one aggregate needs far less noise than noising every record, so central DP is much more accurate at the same epsilon. Everything after this slide is the cost of removing the curator, and whether the numbers still work. Apple and Google are the credibility point if anyone thinks local DP is academic. Apple has shipped it on iOS for years to learn which emoji and which QuickType suggestions are popular, and Google ships RAPPOR in Chrome. The emoji case is worth spelling out, because it is our problem exactly: they learn which emoji are trending across everyone without learning which emoji you sent. Swap emoji for queries and that is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appears on no slide, so leave it out unless asked. The shape on the next slide explains it.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attacker slide two on exists. Say what the thousand is, because the title does not: one query, one coordinate of its vector, and a thousand independent noise draws on that same true value. You cannot audit a random mechanism from one sample, so you repeat it until the shape shows. Then head off the objection someone in the room is already forming. Yes, averaging those thousand draws recovers the true value, which is exactly what the peak landing on the red line shows. That is the auditor's view rather than a usage pattern: a query is privatized once, on submit. The moment one person emits the same query a thousand times, an attacker can average it back, which is why the appendix says privatize on submit and never per keystroke. It is the asymmetry the payoff rests on, pointed the other way. Many draws from one person breaks privacy, one draw each from many people preserves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 made visible. Same query, same coordinate, same thousand draws. Only epsilon differs. The scale is one over epsilon, so 1.2 gives 0.833 and 10 gives 0.100, about eight times narrower. Say why the shared x axis matters: let each panel scale itself and they look identical, which is the opposite of the point. Then land both halves of the trade. At epsilon 10 the noise is finally smaller than the index itself, 0.141 against a coordinate spread of 0.171, which is why the epsilon sweep later shows utility jumping from 0.72 to 0.98 between epsilon 5 and 10. And that is also the cost: a spread this narrow means someone reading a single sample is reading the true value. There is no setting that is private and accurate for one query, which is what the payoff slides exist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confession here, because no slide makes it for you any more. That demo back in Part 2 was rigged: epsilon 1.2 on a twenty document index, where the attacker learned nothing and neither did the user. Say it yourself. If it comes out in Q&amp;A instead, the talk loses, and volunteering it is what makes the payoff believable. Go to the red line first and stay there. That is the demo from Part 2, with the top hit correct 7 percent of the time against a 5 percent baseline, and the top five 45 against 25. Barely above guessing. Then sweep right to make the second point, that utility only returns as epsilon rises, and by then the attacker is reading the query too. Note the curves rise here where slide 17's rose for the attacker, so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needed the real index, which is the attacker curve you showed a slide ago.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 No chart backs this up any more, so carry section 11's result yourself. 480 real WANDS queries in five segments, every user privatizing independently on their own device, no readable query anywhere and no trusted intermediate step. Individual recovery per segment runs 0.020, 0.020, 0.063, 0.070 and 0.030 against chance of 0.014 to 0.031, so one to two and a half times chance, which is not usable. Segment identification is 5 of 5, exact. Same data, same epsilon of 1.0, two different questions. If anyone wants the convergence behind it, the error falls as one over root n across four orders of magnitude and the notebook plots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now carries the one operational number they can apply on Monday, so slow down on the third bullet. The 2,300 is where the measured error crosses the spread of the index, 0.128, on the convergence plot in the notebook. That bar is strict on purpose, since two typical products sit about 0.82 apart, and it is specific to this index. It is not a constant, because error goes as one over epsilon times one over root n, so the threshold scales as one over epsilon squared, which puts it at about 9,200 users at epsilon 0.5 and about 575 at epsilon 2. The question everyone is holding, answered now that they have seen the evidence for every step. Step one is the reframe: there is no epsilon that is private and accurate for one query, so stop looking for it on the tradeoff curve. Point back to the attack curve for step two, because that is how you measure what an epsilon buys on an index you actually run. Step three is the third bullet here. Step four is the whole talk in one line: error goes as one over epsilon times one over root n, so privacy rides on epsilon alone while accuracy has two dials, and n is the one that costs nothing. If someone wants a starting number, say epsilon 1 on an index like this one and then measure, rather than giving them a figure to carry home unexamined.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Say queries rather than people, because the identifiers are still in the clear and the limitations slide admits it shortly. Exact is doing work too, since the category still leaks at a usable epsilon, which is the first limitation you show.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next slide shows how that training actually works, and the limitations slide after it says what does not.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expands the learning-to-rank bullet on the previous slide, and it is the one place to be careful, because it is a recipe rather than a result. Nothing in this talk trains a ranker. Say so if asked. What is measured is the inputs: clicks were never touched by the mechanism, and the segment centroid is accurate above roughly 2,300 users. The labels are therefore exactly what they are today. What moves is the key. You cannot read a query, so you cannot build judgment lists per query string, and you cannot recompute BM25 against words you do not have. You group by segment instead and use its centroid as the query representation, which suits an embedding ranker and suits a term-based feature set badly. Walk the example slowly, it is the whole slide: a few thousand people search for beds, every one of them privatizes on their own device, and the server averages what arrives into a centroid that is accurate but belongs to nobody. The clicks sitting next to it were never noised. That pair, the centroid and the clicks, is a training example. Beds is the cohort behind the convergence plot, so this is the same segment they have already seen measured. Name the category honestly: this is closer to intent-based ranking profiles than to per-query learning-to-rank, and it is coarser, because every query in a segment collapses to one key. If someone asks how much that costs, the next slide measures it, and the two losses separate cleanly. Keying on segments instead of queries is a modelling choice you can evaluate on clean data with no privacy involved, while the noise itself costs almost nothing above the threshold the convergence plot showed. Everything inherits the segment constraint from earlier, so head segments train and the long tail does not reach the user count.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slide in this part with a measurement behind it, so lean on it. 472 WANDS queries ranked against 233,430 graded judgments, scored as NDCG@10. The only thing that changes between the three lines is the vector each query is ranked against. Blue is the query itself at 0.763, which is the ceiling. Orange is the segment centroid and green is that centroid recovered from noisy queries at epsilon 1, at 40 segments of roughly a dozen queries each. Point at the last two bars first, because their being identical is the finding. The noise costs 0.001 here and never more than 0.003 anywhere in the sweep, so the whole drop from the first bar is the price of segmenting rather than the price of privacy. That price is real but it moves with how finely you segment, running from 0.586 at five segments to 0.737 at 320, and the notebook has the full curve if anyone wants it. Two caveats to volunteer. This ranks by vector distance rather than training a ranker, which isolates the query representation instead of measuring a production system. And 480 queries is a small corpus, so the numbers are indicative.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of the payoff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 and how you actually test the mechanism. That last one is the takeaway slide's promise, so have the four checks ready, each catching something different. One, audit the distribution, section 8: privatize one coordinate a thousand times and confirm the peak sits on the true value and the spread is sensitivity over epsilon. That catches a mechanism that is not what you claim, a wrong scale or a sign error, and it is cheap. Two, run an actual attacker, section 10: noise a query, do nearest neighbour against your real index, and score item and class recovery against chance across an epsilon sweep. That catches correctly implemented but still leaking, which is the one that matters. Three, measure the utility cost, section 7, so you know what the epsilon test two approved leaves you. Four, check the convergence, section 11: confirm error falls as one over root n. That catches noise that is not independent across users, a reused seed or a per-session draw, because correlated noise does not cancel and the measured line flattens away from theory. Two things worth saying: none of this needs production data, and tests two and four are the ones people skip and the ones that find real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learning.apple.com/research/learning-with-privacy-at-scale"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wayfair/WANDS"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jzonthemtn/ldp-for-search" TargetMode="External"/><Relationship Id="rId3" Type="http://schemas.openxmlformats.org/officeDocument/2006/relationships/image" Target="../media/image14.png"/><Relationship Id="rId4"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 at Mountain Fog</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What queries, what's clicked, and where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measurement you are guessing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Learning-to-rank can't be trained on guesses</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what we use to tune search</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1463040"/>
          </a:xfrm>
          <a:prstGeom prst="rect">
            <a:avLst/>
          </a:prstGeom>
          <a:noFill/>
        </p:spPr>
        <p:txBody>
          <a:bodyPr wrap="square">
            <a:spAutoFit/>
          </a:bodyPr>
          <a:lstStyle/>
          <a:p>
            <a:r>
              <a:rPr sz="3400" b="1">
                <a:solidFill>
                  <a:srgbClr val="141B2D"/>
                </a:solidFill>
                <a:latin typeface="Helvetica Neue"/>
              </a:rPr>
              <a:t>But what about when we don't know the user queries?</a:t>
            </a:r>
          </a:p>
        </p:txBody>
      </p:sp>
      <p:sp>
        <p:nvSpPr>
          <p:cNvPr id="3" name="Rectangle 2"/>
          <p:cNvSpPr/>
          <p:nvPr/>
        </p:nvSpPr>
        <p:spPr>
          <a:xfrm>
            <a:off x="822960" y="1803399"/>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60320"/>
            <a:ext cx="10515600" cy="352044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applies to any behavioral data, not just search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Intent can be recovered</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Local Differential Privacy</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Two places to add the noise</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Differential privacy comes in two shapes, and the difference is who you trust</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Central DP</a:t>
                      </a:r>
                    </a:p>
                  </a:txBody>
                  <a:tcPr anchor="ctr">
                    <a:solidFill>
                      <a:srgbClr val="005EB8"/>
                    </a:solidFill>
                  </a:tcPr>
                </a:tc>
                <a:tc>
                  <a:txBody>
                    <a:bodyPr/>
                    <a:lstStyle/>
                    <a:p>
                      <a:pPr algn="ctr"/>
                      <a:r>
                        <a:rPr sz="1800" b="1">
                          <a:solidFill>
                            <a:srgbClr val="FFFFFF"/>
                          </a:solidFill>
                          <a:latin typeface="Helvetica Neue"/>
                        </a:rPr>
                        <a:t>Local DP</a:t>
                      </a:r>
                    </a:p>
                  </a:txBody>
                  <a:tcPr anchor="ctr">
                    <a:solidFill>
                      <a:srgbClr val="005EB8"/>
                    </a:solidFill>
                  </a:tcPr>
                </a:tc>
              </a:tr>
              <a:tr h="566928">
                <a:tc>
                  <a:txBody>
                    <a:bodyPr/>
                    <a:lstStyle/>
                    <a:p>
                      <a:pPr algn="l"/>
                      <a:r>
                        <a:rPr sz="1800" b="0">
                          <a:solidFill>
                            <a:srgbClr val="141B2D"/>
                          </a:solidFill>
                          <a:latin typeface="Helvetica Neue"/>
                        </a:rPr>
                        <a:t>Noise is added</a:t>
                      </a:r>
                    </a:p>
                  </a:txBody>
                  <a:tcPr anchor="ctr">
                    <a:solidFill>
                      <a:srgbClr val="F4F7FB"/>
                    </a:solidFill>
                  </a:tcPr>
                </a:tc>
                <a:tc>
                  <a:txBody>
                    <a:bodyPr/>
                    <a:lstStyle/>
                    <a:p>
                      <a:pPr algn="ctr"/>
                      <a:r>
                        <a:rPr sz="1800" b="0">
                          <a:solidFill>
                            <a:srgbClr val="141B2D"/>
                          </a:solidFill>
                          <a:latin typeface="Helvetica Neue"/>
                        </a:rPr>
                        <a:t>After collection</a:t>
                      </a:r>
                    </a:p>
                  </a:txBody>
                  <a:tcPr anchor="ctr">
                    <a:solidFill>
                      <a:srgbClr val="F4F7FB"/>
                    </a:solidFill>
                  </a:tcPr>
                </a:tc>
                <a:tc>
                  <a:txBody>
                    <a:bodyPr/>
                    <a:lstStyle/>
                    <a:p>
                      <a:pPr algn="ctr"/>
                      <a:r>
                        <a:rPr sz="1800" b="0">
                          <a:solidFill>
                            <a:srgbClr val="141B2D"/>
                          </a:solidFill>
                          <a:latin typeface="Helvetica Neue"/>
                        </a:rPr>
                        <a:t>On the device</a:t>
                      </a:r>
                    </a:p>
                  </a:txBody>
                  <a:tcPr anchor="ctr">
                    <a:solidFill>
                      <a:srgbClr val="F4F7FB"/>
                    </a:solidFill>
                  </a:tcPr>
                </a:tc>
              </a:tr>
              <a:tr h="566928">
                <a:tc>
                  <a:txBody>
                    <a:bodyPr/>
                    <a:lstStyle/>
                    <a:p>
                      <a:pPr algn="l"/>
                      <a:r>
                        <a:rPr sz="1800" b="0">
                          <a:solidFill>
                            <a:srgbClr val="141B2D"/>
                          </a:solidFill>
                          <a:latin typeface="Helvetica Neue"/>
                        </a:rPr>
                        <a:t>Who sees the raw data</a:t>
                      </a:r>
                    </a:p>
                  </a:txBody>
                  <a:tcPr anchor="ctr">
                    <a:solidFill>
                      <a:srgbClr val="FFFFFF"/>
                    </a:solidFill>
                  </a:tcPr>
                </a:tc>
                <a:tc>
                  <a:txBody>
                    <a:bodyPr/>
                    <a:lstStyle/>
                    <a:p>
                      <a:pPr algn="ctr"/>
                      <a:r>
                        <a:rPr sz="1800" b="0">
                          <a:solidFill>
                            <a:srgbClr val="141B2D"/>
                          </a:solidFill>
                          <a:latin typeface="Helvetica Neue"/>
                        </a:rPr>
                        <a:t>A trusted curator</a:t>
                      </a:r>
                    </a:p>
                  </a:txBody>
                  <a:tcPr anchor="ctr">
                    <a:solidFill>
                      <a:srgbClr val="FFFFFF"/>
                    </a:solidFill>
                  </a:tcPr>
                </a:tc>
                <a:tc>
                  <a:txBody>
                    <a:bodyPr/>
                    <a:lstStyle/>
                    <a:p>
                      <a:pPr algn="ctr"/>
                      <a:r>
                        <a:rPr sz="1800" b="0">
                          <a:solidFill>
                            <a:srgbClr val="141B2D"/>
                          </a:solidFill>
                          <a:latin typeface="Helvetica Neue"/>
                        </a:rPr>
                        <a:t>No one</a:t>
                      </a:r>
                    </a:p>
                  </a:txBody>
                  <a:tcPr anchor="ctr">
                    <a:solidFill>
                      <a:srgbClr val="FFFFFF"/>
                    </a:solidFill>
                  </a:tcPr>
                </a:tc>
              </a:tr>
              <a:tr h="566928">
                <a:tc>
                  <a:txBody>
                    <a:bodyPr/>
                    <a:lstStyle/>
                    <a:p>
                      <a:pPr algn="l"/>
                      <a:r>
                        <a:rPr sz="1800" b="0">
                          <a:solidFill>
                            <a:srgbClr val="141B2D"/>
                          </a:solidFill>
                          <a:latin typeface="Helvetica Neue"/>
                        </a:rPr>
                        <a:t>Who uses it</a:t>
                      </a:r>
                    </a:p>
                  </a:txBody>
                  <a:tcPr anchor="ctr">
                    <a:solidFill>
                      <a:srgbClr val="F4F7FB"/>
                    </a:solidFill>
                  </a:tcPr>
                </a:tc>
                <a:tc>
                  <a:txBody>
                    <a:bodyPr/>
                    <a:lstStyle/>
                    <a:p>
                      <a:pPr algn="ctr"/>
                      <a:r>
                        <a:rPr sz="1800" b="0">
                          <a:solidFill>
                            <a:srgbClr val="141B2D"/>
                          </a:solidFill>
                          <a:latin typeface="Helvetica Neue"/>
                        </a:rPr>
                        <a:t>The 2020 US Census</a:t>
                      </a:r>
                    </a:p>
                  </a:txBody>
                  <a:tcPr anchor="ctr">
                    <a:solidFill>
                      <a:srgbClr val="F4F7FB"/>
                    </a:solidFill>
                  </a:tcPr>
                </a:tc>
                <a:tc>
                  <a:txBody>
                    <a:bodyPr/>
                    <a:lstStyle/>
                    <a:p>
                      <a:pPr algn="ctr"/>
                      <a:r>
                        <a:rPr sz="1800" b="0">
                          <a:solidFill>
                            <a:srgbClr val="141B2D"/>
                          </a:solidFill>
                          <a:latin typeface="Helvetica Neue"/>
                        </a:rPr>
                        <a:t>Apple emoji trends</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800" b="0" i="0">
                <a:solidFill>
                  <a:srgbClr val="141B2D"/>
                </a:solidFill>
                <a:latin typeface="Helvetica Neue"/>
              </a:rPr>
              <a:t>The Census Bureau sees every raw response, then noises what it publishes.</a:t>
            </a:r>
          </a:p>
          <a:p>
            <a:pPr>
              <a:spcAft>
                <a:spcPts val="800"/>
              </a:spcAft>
            </a:pPr>
            <a:r>
              <a:rPr sz="1800" b="0" i="0">
                <a:solidFill>
                  <a:srgbClr val="141B2D"/>
                </a:solidFill>
                <a:latin typeface="Helvetica Neue"/>
              </a:rPr>
              <a:t>Apple never sees your emoji, only a noised count from every phone.</a:t>
            </a:r>
          </a:p>
        </p:txBody>
      </p:sp>
      <p:sp>
        <p:nvSpPr>
          <p:cNvPr id="7" name="TextBox 6"/>
          <p:cNvSpPr txBox="1"/>
          <p:nvPr/>
        </p:nvSpPr>
        <p:spPr>
          <a:xfrm>
            <a:off x="822960" y="5943600"/>
            <a:ext cx="8961120" cy="502920"/>
          </a:xfrm>
          <a:prstGeom prst="rect">
            <a:avLst/>
          </a:prstGeom>
          <a:noFill/>
        </p:spPr>
        <p:txBody>
          <a:bodyPr wrap="square">
            <a:spAutoFit/>
          </a:bodyPr>
          <a:lstStyle/>
          <a:p>
            <a:r>
              <a:rPr sz="1400" b="0" i="0">
                <a:solidFill>
                  <a:srgbClr val="5A647A"/>
                </a:solidFill>
                <a:latin typeface="Helvetica Neue"/>
              </a:rPr>
              <a:t>Apple, Learning with Privacy at Scale, 2017: </a:t>
            </a:r>
            <a:r>
              <a:rPr sz="1400" b="0" u="sng">
                <a:solidFill>
                  <a:srgbClr val="005EB8"/>
                </a:solidFill>
                <a:latin typeface="Helvetica Neue"/>
                <a:hlinkClick r:id="rId2"/>
              </a:rPr>
              <a:t>machinelearning.apple.com</a:t>
            </a:r>
          </a:p>
        </p:txBody>
      </p:sp>
      <p:sp>
        <p:nvSpPr>
          <p:cNvPr id="8" name="TextBox 7"/>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spread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 higher epsilon is a narrower spread</a:t>
            </a:r>
          </a:p>
        </p:txBody>
      </p:sp>
      <p:pic>
        <p:nvPicPr>
          <p:cNvPr id="3" name="Picture 2" descr="08b_epsilon_spread_comparison.png"/>
          <p:cNvPicPr>
            <a:picLocks noChangeAspect="1"/>
          </p:cNvPicPr>
          <p:nvPr/>
        </p:nvPicPr>
        <p:blipFill>
          <a:blip r:embed="rId2"/>
          <a:stretch>
            <a:fillRect/>
          </a:stretch>
        </p:blipFill>
        <p:spPr>
          <a:xfrm>
            <a:off x="883767" y="1417320"/>
            <a:ext cx="10424160" cy="390687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Both panels share one x axis. At epsilon 10 almost every draw lands on the red line.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Search quality vs epsilon values</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Search quality only returns as the noise comes down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You lose the person and keep the pattern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noise cancels when you average over many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So how do you pick epsilon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Start at epsilon 1, then measure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Pick it for the privacy you need, because utility also depends on the number of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 segment needs roughly 2,300 users at epsilon 1, and halving epsilon needs four times that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too small? Add users or widen them, and leave epsilon alone</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Your head terms work and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search tuning.</a:t>
            </a:r>
          </a:p>
          <a:p>
            <a:pPr>
              <a:spcAft>
                <a:spcPts val="1600"/>
              </a:spcAft>
            </a:pPr>
            <a:r>
              <a:rPr sz="3400" b="0">
                <a:solidFill>
                  <a:srgbClr val="005EB8"/>
                </a:solidFill>
                <a:latin typeface="Helvetica Neue"/>
              </a:rPr>
              <a:t>It costs you exact queries.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a specific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Training learning-to-rank on noised queries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labels were never protected, so what changes is what you key them on</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Classic LTR</a:t>
                      </a:r>
                    </a:p>
                  </a:txBody>
                  <a:tcPr anchor="ctr">
                    <a:solidFill>
                      <a:srgbClr val="005EB8"/>
                    </a:solidFill>
                  </a:tcPr>
                </a:tc>
                <a:tc>
                  <a:txBody>
                    <a:bodyPr/>
                    <a:lstStyle/>
                    <a:p>
                      <a:pPr algn="ctr"/>
                      <a:r>
                        <a:rPr sz="1800" b="1">
                          <a:solidFill>
                            <a:srgbClr val="FFFFFF"/>
                          </a:solidFill>
                          <a:latin typeface="Helvetica Neue"/>
                        </a:rPr>
                        <a:t>Under LDP</a:t>
                      </a:r>
                    </a:p>
                  </a:txBody>
                  <a:tcPr anchor="ctr">
                    <a:solidFill>
                      <a:srgbClr val="005EB8"/>
                    </a:solidFill>
                  </a:tcPr>
                </a:tc>
              </a:tr>
              <a:tr h="566928">
                <a:tc>
                  <a:txBody>
                    <a:bodyPr/>
                    <a:lstStyle/>
                    <a:p>
                      <a:pPr algn="l"/>
                      <a:r>
                        <a:rPr sz="1800" b="0">
                          <a:solidFill>
                            <a:srgbClr val="141B2D"/>
                          </a:solidFill>
                          <a:latin typeface="Helvetica Neue"/>
                        </a:rPr>
                        <a:t>Labels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r>
              <a:tr h="566928">
                <a:tc>
                  <a:txBody>
                    <a:bodyPr/>
                    <a:lstStyle/>
                    <a:p>
                      <a:pPr algn="l"/>
                      <a:r>
                        <a:rPr sz="1800" b="0">
                          <a:solidFill>
                            <a:srgbClr val="141B2D"/>
                          </a:solidFill>
                          <a:latin typeface="Helvetica Neue"/>
                        </a:rPr>
                        <a:t>Keyed on</a:t>
                      </a:r>
                    </a:p>
                  </a:txBody>
                  <a:tcPr anchor="ctr">
                    <a:solidFill>
                      <a:srgbClr val="FFFFFF"/>
                    </a:solidFill>
                  </a:tcPr>
                </a:tc>
                <a:tc>
                  <a:txBody>
                    <a:bodyPr/>
                    <a:lstStyle/>
                    <a:p>
                      <a:pPr algn="ctr"/>
                      <a:r>
                        <a:rPr sz="1800" b="0">
                          <a:solidFill>
                            <a:srgbClr val="141B2D"/>
                          </a:solidFill>
                          <a:latin typeface="Helvetica Neue"/>
                        </a:rPr>
                        <a:t>The query</a:t>
                      </a:r>
                    </a:p>
                  </a:txBody>
                  <a:tcPr anchor="ctr">
                    <a:solidFill>
                      <a:srgbClr val="FFFFFF"/>
                    </a:solidFill>
                  </a:tcPr>
                </a:tc>
                <a:tc>
                  <a:txBody>
                    <a:bodyPr/>
                    <a:lstStyle/>
                    <a:p>
                      <a:pPr algn="ctr"/>
                      <a:r>
                        <a:rPr sz="1800" b="0">
                          <a:solidFill>
                            <a:srgbClr val="141B2D"/>
                          </a:solidFill>
                          <a:latin typeface="Helvetica Neue"/>
                        </a:rPr>
                        <a:t>The segment</a:t>
                      </a:r>
                    </a:p>
                  </a:txBody>
                  <a:tcPr anchor="ctr">
                    <a:solidFill>
                      <a:srgbClr val="FFFFFF"/>
                    </a:solidFill>
                  </a:tcPr>
                </a:tc>
              </a:tr>
              <a:tr h="566928">
                <a:tc>
                  <a:txBody>
                    <a:bodyPr/>
                    <a:lstStyle/>
                    <a:p>
                      <a:pPr algn="l"/>
                      <a:r>
                        <a:rPr sz="1800" b="0">
                          <a:solidFill>
                            <a:srgbClr val="141B2D"/>
                          </a:solidFill>
                          <a:latin typeface="Helvetica Neue"/>
                        </a:rPr>
                        <a:t>Query features</a:t>
                      </a:r>
                    </a:p>
                  </a:txBody>
                  <a:tcPr anchor="ctr">
                    <a:solidFill>
                      <a:srgbClr val="F4F7FB"/>
                    </a:solidFill>
                  </a:tcPr>
                </a:tc>
                <a:tc>
                  <a:txBody>
                    <a:bodyPr/>
                    <a:lstStyle/>
                    <a:p>
                      <a:pPr algn="ctr"/>
                      <a:r>
                        <a:rPr sz="1800" b="0">
                          <a:solidFill>
                            <a:srgbClr val="141B2D"/>
                          </a:solidFill>
                          <a:latin typeface="Helvetica Neue"/>
                        </a:rPr>
                        <a:t>BM25 and term matches</a:t>
                      </a:r>
                    </a:p>
                  </a:txBody>
                  <a:tcPr anchor="ctr">
                    <a:solidFill>
                      <a:srgbClr val="F4F7FB"/>
                    </a:solidFill>
                  </a:tcPr>
                </a:tc>
                <a:tc>
                  <a:txBody>
                    <a:bodyPr/>
                    <a:lstStyle/>
                    <a:p>
                      <a:pPr algn="ctr"/>
                      <a:r>
                        <a:rPr sz="1800" b="0">
                          <a:solidFill>
                            <a:srgbClr val="141B2D"/>
                          </a:solidFill>
                          <a:latin typeface="Helvetica Neue"/>
                        </a:rPr>
                        <a:t>The segment centroid</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600" b="0">
                <a:solidFill>
                  <a:srgbClr val="141B2D"/>
                </a:solidFill>
                <a:latin typeface="Consolas"/>
              </a:rPr>
              <a:t>ubi_events</a:t>
            </a:r>
            <a:r>
              <a:rPr sz="1800" b="0" i="0">
                <a:solidFill>
                  <a:srgbClr val="141B2D"/>
                </a:solidFill>
                <a:latin typeface="Helvetica Neue"/>
              </a:rPr>
              <a:t> still shows which results were clicked</a:t>
            </a:r>
          </a:p>
          <a:p>
            <a:pPr>
              <a:spcAft>
                <a:spcPts val="800"/>
              </a:spcAft>
            </a:pPr>
            <a:r>
              <a:rPr sz="1800" b="0" i="0">
                <a:solidFill>
                  <a:srgbClr val="141B2D"/>
                </a:solidFill>
                <a:latin typeface="Helvetica Neue"/>
              </a:rPr>
              <a:t>Intent-based ranking profiles: for bed shoppers, boost these attributes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NDCG@10 Comparison</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Each bar ranks the same judged products against a different vector, scored as NDCG@10</a:t>
            </a:r>
          </a:p>
        </p:txBody>
      </p:sp>
      <p:pic>
        <p:nvPicPr>
          <p:cNvPr id="4" name="Picture 3" descr="12_ltr_segmentation.png"/>
          <p:cNvPicPr>
            <a:picLocks noChangeAspect="1"/>
          </p:cNvPicPr>
          <p:nvPr/>
        </p:nvPicPr>
        <p:blipFill>
          <a:blip r:embed="rId2"/>
          <a:stretch>
            <a:fillRect/>
          </a:stretch>
        </p:blipFill>
        <p:spPr>
          <a:xfrm>
            <a:off x="2696882" y="1828800"/>
            <a:ext cx="6797931" cy="3931920"/>
          </a:xfrm>
          <a:prstGeom prst="rect">
            <a:avLst/>
          </a:prstGeom>
        </p:spPr>
      </p:pic>
      <p:sp>
        <p:nvSpPr>
          <p:cNvPr id="5" name="TextBox 4"/>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233,430 graded judgments, 40 segments (arbitrarily chosen), epsilon 1 at 20,000 users a segment</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healthcare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Epsilon values don't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Long tail queries stay unmeasurable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protects </a:t>
            </a:r>
            <a:r>
              <a:rPr sz="2200" b="0">
                <a:solidFill>
                  <a:srgbClr val="141B2D"/>
                </a:solidFill>
                <a:latin typeface="Consolas"/>
              </a:rPr>
              <a:t>user_query</a:t>
            </a:r>
            <a:r>
              <a:rPr sz="2400" b="0" i="0">
                <a:solidFill>
                  <a:srgbClr val="141B2D"/>
                </a:solidFill>
                <a:latin typeface="Helvetica Neue"/>
              </a:rPr>
              <a:t> but </a:t>
            </a:r>
            <a:r>
              <a:rPr sz="2200" b="0">
                <a:solidFill>
                  <a:srgbClr val="141B2D"/>
                </a:solidFill>
                <a:latin typeface="Consolas"/>
              </a:rPr>
              <a:t>ubi_events</a:t>
            </a:r>
            <a:r>
              <a:rPr sz="2400" b="0" i="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testing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but that's what relevance tuning needs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u="sng">
                <a:solidFill>
                  <a:srgbClr val="8EB8E8"/>
                </a:solidFill>
                <a:latin typeface="Helvetica Neue"/>
                <a:hlinkClick r:id="rId2"/>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3"/>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