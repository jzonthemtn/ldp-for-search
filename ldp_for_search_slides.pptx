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redaction work is no longer a bullet but is still worth saying out loud,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has to understand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longest part by far, because it carries the mechanism, the evidence, the cost and the payoff. Three evidence slides in order of strength, the distribution audit, then the epsilon comparison, then the attacker. Then what the noise costs, then what survives it. No divider marks the payoff any more, so the turn from the epsilon sweep to the asymmetry slide is yours to make out 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appears on no slide, so leave it out unless asked. The shape on the next slide explains it.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attacker slide two on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epsilon sweep later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17's rose for the attacker, so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needed the real index, which is the attacker curve you showed a slide ago.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and now the only place section 11's result appears, so open with it. 480 real WANDS queries in five segments, every user privatizing independently on their own device, no readable query anywhere and no trusted intermediate step. Individual recovery per segment runs 0.020, 0.020, 0.063, 0.070 and 0.030 against chance of 0.014 to 0.031, roughly one to two and a half times chance, which is not usable. Segment identification is 5 of 5, exact. Same data, same epsilon of 1.0, two different questions. Then the plot.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convergence plot and the previous slide.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next slide shows how that training actually works, and the limitations slide after it says what does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expands the learning-to-rank bullet on the previous slide, and it is the one place to be careful, because it is a recipe rather than a result. Nothing in this talk trains a ranker. Say so if asked. What is measured is the inputs: clicks were never touched by the mechanism, and the segment centroid is accurate above roughly 2,300 users. The labels are therefore exactly what they are today. What moves is the key. You cannot read a query, so you cannot build judgment lists per query string, and you cannot recompute BM25 against words you do not have. You group by segment instead and use its centroid as the query representation, which suits an embedding ranker and suits a term-based feature set badly. Walk the example slowly, it is the whole slide: a few thousand people search for beds, every one of them privatizes on their own device, and the server averages what arrives into a centroid that is accurate but belongs to nobody. The clicks sitting next to it were never noised. That pair, the centroid and the clicks, is a training example. Beds is the cohort behind the convergence plot, so this is the same segment they have already seen measured. Name the category honestly: this is closer to intent-based ranking profiles than to per-query learning-to-rank, and it is coarser, because every query in a segment collapses to one key. If someone asks how much that costs, say it has not been measured and that the two losses separate: keying on segments instead of queries is a modelling choice you can evaluate on clean data with no privacy involved, while the noise itself costs almost nothing above 2,300 users, which is what the convergence plot showed. Everything inherits the segment constraint from earlier: head segments train, the long tail does not reach the user count.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can't be trained on guesses</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Two places to add the noise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where the Part 2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Average the noised queries of </a:t>
            </a:r>
            <a:r>
              <a:rPr sz="1300" b="0">
                <a:solidFill>
                  <a:srgbClr val="5A647A"/>
                </a:solidFill>
                <a:latin typeface="Consolas"/>
              </a:rPr>
              <a:t>n</a:t>
            </a:r>
            <a:r>
              <a:rPr sz="1500" b="0" i="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Segments too small? Add users or widen them, and leave epsilon alone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Training learning-to-rank on noised queries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labels were never protected, so what changes is what you key them on</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Classic LTR</a:t>
                      </a:r>
                    </a:p>
                  </a:txBody>
                  <a:tcPr anchor="ctr">
                    <a:solidFill>
                      <a:srgbClr val="005EB8"/>
                    </a:solidFill>
                  </a:tcPr>
                </a:tc>
                <a:tc>
                  <a:txBody>
                    <a:bodyPr/>
                    <a:lstStyle/>
                    <a:p>
                      <a:pPr algn="ctr"/>
                      <a:r>
                        <a:rPr sz="1800" b="1">
                          <a:solidFill>
                            <a:srgbClr val="FFFFFF"/>
                          </a:solidFill>
                          <a:latin typeface="Helvetica Neue"/>
                        </a:rPr>
                        <a:t>Under LDP</a:t>
                      </a:r>
                    </a:p>
                  </a:txBody>
                  <a:tcPr anchor="ctr">
                    <a:solidFill>
                      <a:srgbClr val="005EB8"/>
                    </a:solidFill>
                  </a:tcPr>
                </a:tc>
              </a:tr>
              <a:tr h="566928">
                <a:tc>
                  <a:txBody>
                    <a:bodyPr/>
                    <a:lstStyle/>
                    <a:p>
                      <a:pPr algn="l"/>
                      <a:r>
                        <a:rPr sz="1800" b="0">
                          <a:solidFill>
                            <a:srgbClr val="141B2D"/>
                          </a:solidFill>
                          <a:latin typeface="Helvetica Neue"/>
                        </a:rPr>
                        <a:t>Labels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r>
              <a:tr h="566928">
                <a:tc>
                  <a:txBody>
                    <a:bodyPr/>
                    <a:lstStyle/>
                    <a:p>
                      <a:pPr algn="l"/>
                      <a:r>
                        <a:rPr sz="1800" b="0">
                          <a:solidFill>
                            <a:srgbClr val="141B2D"/>
                          </a:solidFill>
                          <a:latin typeface="Helvetica Neue"/>
                        </a:rPr>
                        <a:t>Keyed on</a:t>
                      </a:r>
                    </a:p>
                  </a:txBody>
                  <a:tcPr anchor="ctr">
                    <a:solidFill>
                      <a:srgbClr val="FFFFFF"/>
                    </a:solidFill>
                  </a:tcPr>
                </a:tc>
                <a:tc>
                  <a:txBody>
                    <a:bodyPr/>
                    <a:lstStyle/>
                    <a:p>
                      <a:pPr algn="ctr"/>
                      <a:r>
                        <a:rPr sz="1800" b="0">
                          <a:solidFill>
                            <a:srgbClr val="141B2D"/>
                          </a:solidFill>
                          <a:latin typeface="Helvetica Neue"/>
                        </a:rPr>
                        <a:t>The query</a:t>
                      </a:r>
                    </a:p>
                  </a:txBody>
                  <a:tcPr anchor="ctr">
                    <a:solidFill>
                      <a:srgbClr val="FFFFFF"/>
                    </a:solidFill>
                  </a:tcPr>
                </a:tc>
                <a:tc>
                  <a:txBody>
                    <a:bodyPr/>
                    <a:lstStyle/>
                    <a:p>
                      <a:pPr algn="ctr"/>
                      <a:r>
                        <a:rPr sz="1800" b="0">
                          <a:solidFill>
                            <a:srgbClr val="141B2D"/>
                          </a:solidFill>
                          <a:latin typeface="Helvetica Neue"/>
                        </a:rPr>
                        <a:t>The segment</a:t>
                      </a:r>
                    </a:p>
                  </a:txBody>
                  <a:tcPr anchor="ctr">
                    <a:solidFill>
                      <a:srgbClr val="FFFFFF"/>
                    </a:solidFill>
                  </a:tcPr>
                </a:tc>
              </a:tr>
              <a:tr h="566928">
                <a:tc>
                  <a:txBody>
                    <a:bodyPr/>
                    <a:lstStyle/>
                    <a:p>
                      <a:pPr algn="l"/>
                      <a:r>
                        <a:rPr sz="1800" b="0">
                          <a:solidFill>
                            <a:srgbClr val="141B2D"/>
                          </a:solidFill>
                          <a:latin typeface="Helvetica Neue"/>
                        </a:rPr>
                        <a:t>Query features</a:t>
                      </a:r>
                    </a:p>
                  </a:txBody>
                  <a:tcPr anchor="ctr">
                    <a:solidFill>
                      <a:srgbClr val="F4F7FB"/>
                    </a:solidFill>
                  </a:tcPr>
                </a:tc>
                <a:tc>
                  <a:txBody>
                    <a:bodyPr/>
                    <a:lstStyle/>
                    <a:p>
                      <a:pPr algn="ctr"/>
                      <a:r>
                        <a:rPr sz="1800" b="0">
                          <a:solidFill>
                            <a:srgbClr val="141B2D"/>
                          </a:solidFill>
                          <a:latin typeface="Helvetica Neue"/>
                        </a:rPr>
                        <a:t>BM25 and term matches</a:t>
                      </a:r>
                    </a:p>
                  </a:txBody>
                  <a:tcPr anchor="ctr">
                    <a:solidFill>
                      <a:srgbClr val="F4F7FB"/>
                    </a:solidFill>
                  </a:tcPr>
                </a:tc>
                <a:tc>
                  <a:txBody>
                    <a:bodyPr/>
                    <a:lstStyle/>
                    <a:p>
                      <a:pPr algn="ctr"/>
                      <a:r>
                        <a:rPr sz="1800" b="0">
                          <a:solidFill>
                            <a:srgbClr val="141B2D"/>
                          </a:solidFill>
                          <a:latin typeface="Helvetica Neue"/>
                        </a:rPr>
                        <a:t>The segment centroid</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600" b="0">
                <a:solidFill>
                  <a:srgbClr val="141B2D"/>
                </a:solidFill>
                <a:latin typeface="Consolas"/>
              </a:rPr>
              <a:t>ubi_events</a:t>
            </a:r>
            <a:r>
              <a:rPr sz="1800" b="0" i="0">
                <a:solidFill>
                  <a:srgbClr val="141B2D"/>
                </a:solidFill>
                <a:latin typeface="Helvetica Neue"/>
              </a:rPr>
              <a:t> still shows which results were clicked</a:t>
            </a:r>
          </a:p>
          <a:p>
            <a:pPr>
              <a:spcAft>
                <a:spcPts val="800"/>
              </a:spcAft>
            </a:pPr>
            <a:r>
              <a:rPr sz="1800" b="0" i="0">
                <a:solidFill>
                  <a:srgbClr val="141B2D"/>
                </a:solidFill>
                <a:latin typeface="Helvetica Neue"/>
              </a:rPr>
              <a:t>Intent-based ranking profiles: for bed shoppers, boost these attributes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