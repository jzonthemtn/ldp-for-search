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tension. We need behavioural data to tune relevance, and we are increasingly not allowed to keep it. This talk is about doing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about 30 seconds. The credential that matters for this talk is the PII redaction work, because it is why the privacy problem is familiar rather than academic. The UBI maintainership is why the OpenSearch half is credible. Do not read the 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Goal is that everyone understands the problem before any code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behavioural data is not a nice-to-have. It is the input to the entire discipline. Everything after this depends on the audience accepting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quick. The audience needs the field names because the next slide points at three of them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Legal does not object to 'search data' in the abstract. They object to these fields. Naming them makes the rest of the talk concrete.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away from reactive data scrubbing' promise from the abstract. Say plainly that you build redaction tooling and that it is the right tool for documents at rest. That makes this a statement about ordering rather than a swipe at a technique, and it preempts the obvious 'what about redaction' question. Land it as a shape-of-solution argument, not a tooling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 minutes. This exists to kill the objection half the room is already forming.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objection out loud in the audience's voice before you refute it. If you skip this, a good chunk of the room thinks the problem is already solved.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 documents aloud. They fit in one breath. Then run section 9 and let the raw result speak. Do not rush this, it is the hinge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the rest of the talk builds on. Pause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Mechanism briefly, then two verification beats, weakest to strongest.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only. Resist the urge to teach differential privacy properly, there is not time and it is not the point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distributional check. It proves the mechanism is implemented correctly. It does not prove an attacker fails, which is why the next slide exists.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Stronger evidence than the histogram, because it measures an adversary rather than a distribution. This discharges the 'verify, do not hope' promise in the abstract.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Volunteer the weakness before anyone asks. This buys credibility for Act 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yourself. If it comes out in Q&amp;A instead, the talk loses. Volunteering it is what makes Act 5 believable.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useful region is epsilon 3 to 5, where R@5 is high but P@1 has collapsed. Past 10 the noise stops doing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epsilon 10 to 20 the attacker recovers the category but not the item. That gap is the honest version of the privacy claim, and far more defensible than 'they get gibberish'.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This is the payoff and the answer to Act 4. Give it the most room.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talk. Everything before it was setup. LDP is not a privacy tax, it is a trade of individual resolution for population accuracy.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no cohort member sends a readable query, and the server does the aggregation on noised vectors only. There is no trusted intermediate step.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 recovery runs at roughly 1x to 2.5x chance, which is not usable. Aggregate recovery is exact. Same data, same epsilon, two different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centrepiece. Measured error tracks theory across four orders of magnitude. Point at the crossing with the red line,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audience one operational number they can apply on Monday. This is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Every input relevance tuning actually needs is a population statistic. Let this sit on screen for a beat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Land the integration, then be honest about what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architectural payoff. The trust boundary moves to the device, which is the only place the raw query legitimately exists.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abstract's promise about LTR and query-intent analysis. Then name the thing that genuinely goes away.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a question someone will ask. Answering them first is cheaper than answering them under pressure. Also mention that a formal epsilon-DP claim needs sensitivity calibrated to the true coordinate range.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sentences. If someone remembers only one, it should be the last.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notebook open on the convergence plot behind you during Q&amp;A. Likely questions: formal DP guarantee, why PCA, composition across repeated queries from one user, why not just hash the query.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Leveraging LDP for High-Trust OpenSearch UBI</a:t>
            </a:r>
          </a:p>
          <a:p>
            <a:pPr>
              <a:spcBef>
                <a:spcPts val="1400"/>
              </a:spcBef>
            </a:pPr>
            <a:r>
              <a:rPr sz="2600" b="0">
                <a:solidFill>
                  <a:srgbClr val="8EB8E8"/>
                </a:solidFill>
                <a:latin typeface="Helvetica Neue"/>
              </a:rPr>
              <a:t>Keeping relevance work alive when you cannot store the queries</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San Jose</a:t>
            </a:r>
          </a:p>
          <a:p>
            <a:pPr>
              <a:spcBef>
                <a:spcPts val="100"/>
              </a:spcBef>
            </a:pPr>
            <a:r>
              <a:rPr sz="1500" b="0">
                <a:solidFill>
                  <a:srgbClr val="7C889E"/>
                </a:solidFill>
                <a:latin typeface="Helvetica Neue"/>
              </a:rPr>
              <a:t>September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About 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Independent consultant, Mountain Fog</a:t>
            </a:r>
          </a:p>
          <a:p>
            <a:pPr marL="342900" indent="-342900">
              <a:spcAft>
                <a:spcPts val="2000"/>
              </a:spcAft>
            </a:pPr>
            <a:r>
              <a:rPr sz="2400" b="1">
                <a:solidFill>
                  <a:srgbClr val="005EB8"/>
                </a:solidFill>
                <a:latin typeface="Helvetica Neue"/>
              </a:rPr>
              <a:t>-   </a:t>
            </a:r>
            <a:r>
              <a:rPr sz="2400" b="0">
                <a:solidFill>
                  <a:srgbClr val="141B2D"/>
                </a:solidFill>
                <a:latin typeface="Helvetica Neue"/>
              </a:rPr>
              <a:t>OpenSearch UBI and opensearch-migrations maintainer</a:t>
            </a:r>
          </a:p>
          <a:p>
            <a:pPr marL="342900" indent="-342900">
              <a:spcAft>
                <a:spcPts val="2000"/>
              </a:spcAft>
            </a:pPr>
            <a:r>
              <a:rPr sz="2400" b="1">
                <a:solidFill>
                  <a:srgbClr val="005EB8"/>
                </a:solidFill>
                <a:latin typeface="Helvetica Neue"/>
              </a:rPr>
              <a:t>-   </a:t>
            </a:r>
            <a:r>
              <a:rPr sz="2400" b="0">
                <a:solidFill>
                  <a:srgbClr val="141B2D"/>
                </a:solidFill>
                <a:latin typeface="Helvetica Neue"/>
              </a:rPr>
              <a:t>Apache Software Foundation member, OpenNLP PMC Chair</a:t>
            </a:r>
          </a:p>
          <a:p>
            <a:pPr marL="342900" indent="-342900">
              <a:spcAft>
                <a:spcPts val="2000"/>
              </a:spcAft>
            </a:pPr>
            <a:r>
              <a:rPr sz="2400" b="1">
                <a:solidFill>
                  <a:srgbClr val="005EB8"/>
                </a:solidFill>
                <a:latin typeface="Helvetica Neue"/>
              </a:rPr>
              <a:t>-   </a:t>
            </a:r>
            <a:r>
              <a:rPr sz="2400" b="0">
                <a:solidFill>
                  <a:srgbClr val="141B2D"/>
                </a:solidFill>
                <a:latin typeface="Helvetica Neue"/>
              </a:rPr>
              <a:t>PII redaction tooling at Philterd</a:t>
            </a:r>
          </a:p>
          <a:p>
            <a:pPr marL="342900" indent="-342900">
              <a:spcAft>
                <a:spcPts val="2000"/>
              </a:spcAft>
            </a:pPr>
            <a:r>
              <a:rPr sz="2400" b="1">
                <a:solidFill>
                  <a:srgbClr val="005EB8"/>
                </a:solidFill>
                <a:latin typeface="Helvetica Neue"/>
              </a:rPr>
              <a:t>-   </a:t>
            </a:r>
            <a:r>
              <a:rPr sz="2400" b="0">
                <a:solidFill>
                  <a:srgbClr val="141B2D"/>
                </a:solidFill>
                <a:latin typeface="Helvetica Neue"/>
              </a:rPr>
              <a:t>Works in search, NLP, and privacy</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ACT 1</a:t>
            </a:r>
          </a:p>
          <a:p>
            <a:pPr>
              <a:spcBef>
                <a:spcPts val="1000"/>
              </a:spcBef>
            </a:pPr>
            <a:r>
              <a:rPr sz="4200" b="1">
                <a:solidFill>
                  <a:srgbClr val="FFFFFF"/>
                </a:solidFill>
                <a:latin typeface="Helvetica Neue"/>
              </a:rPr>
              <a:t>The blocker</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To tune search, you have to see what users do</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Relevance work is empirical, not theoretical</a:t>
            </a:r>
          </a:p>
          <a:p>
            <a:pPr marL="342900" indent="-342900">
              <a:spcAft>
                <a:spcPts val="2000"/>
              </a:spcAft>
            </a:pPr>
            <a:r>
              <a:rPr sz="2400" b="1">
                <a:solidFill>
                  <a:srgbClr val="005EB8"/>
                </a:solidFill>
                <a:latin typeface="Helvetica Neue"/>
              </a:rPr>
              <a:t>-   </a:t>
            </a:r>
            <a:r>
              <a:rPr sz="2400" b="0">
                <a:solidFill>
                  <a:srgbClr val="141B2D"/>
                </a:solidFill>
                <a:latin typeface="Helvetica Neue"/>
              </a:rPr>
              <a:t>Which queries fire, which results get clicked, at which position</a:t>
            </a:r>
          </a:p>
          <a:p>
            <a:pPr marL="342900" indent="-342900">
              <a:spcAft>
                <a:spcPts val="2000"/>
              </a:spcAft>
            </a:pPr>
            <a:r>
              <a:rPr sz="2400" b="1">
                <a:solidFill>
                  <a:srgbClr val="005EB8"/>
                </a:solidFill>
                <a:latin typeface="Helvetica Neue"/>
              </a:rPr>
              <a:t>-   </a:t>
            </a:r>
            <a:r>
              <a:rPr sz="2400" b="0">
                <a:solidFill>
                  <a:srgbClr val="141B2D"/>
                </a:solidFill>
                <a:latin typeface="Helvetica Neue"/>
              </a:rPr>
              <a:t>Learning-to-rank trains on exactly this signal</a:t>
            </a:r>
          </a:p>
          <a:p>
            <a:pPr marL="342900" indent="-342900">
              <a:spcAft>
                <a:spcPts val="2000"/>
              </a:spcAft>
            </a:pPr>
            <a:r>
              <a:rPr sz="2400" b="1">
                <a:solidFill>
                  <a:srgbClr val="005EB8"/>
                </a:solidFill>
                <a:latin typeface="Helvetica Neue"/>
              </a:rPr>
              <a:t>-   </a:t>
            </a:r>
            <a:r>
              <a:rPr sz="2400" b="0">
                <a:solidFill>
                  <a:srgbClr val="141B2D"/>
                </a:solidFill>
                <a:latin typeface="Helvetica Neue"/>
              </a:rPr>
              <a:t>Without it you are guessing, and shipping guesses to production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OpenSearch UBI exists for this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ubi_queries:  user_query, query_id, client_id, timestamp</a:t>
            </a:r>
          </a:p>
          <a:p>
            <a:pPr marL="342900" indent="-342900">
              <a:spcAft>
                <a:spcPts val="2000"/>
              </a:spcAft>
            </a:pPr>
            <a:r>
              <a:rPr sz="2400" b="1">
                <a:solidFill>
                  <a:srgbClr val="005EB8"/>
                </a:solidFill>
                <a:latin typeface="Helvetica Neue"/>
              </a:rPr>
              <a:t>-   </a:t>
            </a:r>
            <a:r>
              <a:rPr sz="2400" b="0">
                <a:solidFill>
                  <a:srgbClr val="141B2D"/>
                </a:solidFill>
                <a:latin typeface="Helvetica Neue"/>
              </a:rPr>
              <a:t>ubi_events:  action_name, object_id, position, session_id, page_id</a:t>
            </a:r>
          </a:p>
          <a:p>
            <a:pPr marL="342900" indent="-342900">
              <a:spcAft>
                <a:spcPts val="2000"/>
              </a:spcAft>
            </a:pPr>
            <a:r>
              <a:rPr sz="2400" b="1">
                <a:solidFill>
                  <a:srgbClr val="005EB8"/>
                </a:solidFill>
                <a:latin typeface="Helvetica Neue"/>
              </a:rPr>
              <a:t>-   </a:t>
            </a:r>
            <a:r>
              <a:rPr sz="2400" b="0">
                <a:solidFill>
                  <a:srgbClr val="141B2D"/>
                </a:solidFill>
                <a:latin typeface="Helvetica Neue"/>
              </a:rPr>
              <a:t>ubi.js collects interactions in the browser and ships them to the cluster</a:t>
            </a:r>
          </a:p>
          <a:p>
            <a:pPr marL="342900" indent="-342900">
              <a:spcAft>
                <a:spcPts val="2000"/>
              </a:spcAft>
            </a:pPr>
            <a:r>
              <a:rPr sz="2400" b="1">
                <a:solidFill>
                  <a:srgbClr val="005EB8"/>
                </a:solidFill>
                <a:latin typeface="Helvetica Neue"/>
              </a:rPr>
              <a:t>-   </a:t>
            </a:r>
            <a:r>
              <a:rPr sz="2400" b="0">
                <a:solidFill>
                  <a:srgbClr val="141B2D"/>
                </a:solidFill>
                <a:latin typeface="Helvetica Neue"/>
              </a:rPr>
              <a:t>This is the raw material relevance tuning runs 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Then legal reads the schema</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user_query is free text a person typed. It can contain anything</a:t>
            </a:r>
          </a:p>
          <a:p>
            <a:pPr marL="342900" indent="-342900">
              <a:spcAft>
                <a:spcPts val="2000"/>
              </a:spcAft>
            </a:pPr>
            <a:r>
              <a:rPr sz="2400" b="1">
                <a:solidFill>
                  <a:srgbClr val="B4311A"/>
                </a:solidFill>
                <a:latin typeface="Helvetica Neue"/>
              </a:rPr>
              <a:t>-   </a:t>
            </a:r>
            <a:r>
              <a:rPr sz="2400" b="0">
                <a:solidFill>
                  <a:srgbClr val="141B2D"/>
                </a:solidFill>
                <a:latin typeface="Helvetica Neue"/>
              </a:rPr>
              <a:t>client_id and session_id make it linkable across time</a:t>
            </a:r>
          </a:p>
          <a:p>
            <a:pPr marL="342900" indent="-342900">
              <a:spcAft>
                <a:spcPts val="2000"/>
              </a:spcAft>
            </a:pPr>
            <a:r>
              <a:rPr sz="2400" b="1">
                <a:solidFill>
                  <a:srgbClr val="B4311A"/>
                </a:solidFill>
                <a:latin typeface="Helvetica Neue"/>
              </a:rPr>
              <a:t>-   </a:t>
            </a:r>
            <a:r>
              <a:rPr sz="2400" b="0">
                <a:solidFill>
                  <a:srgbClr val="141B2D"/>
                </a:solidFill>
                <a:latin typeface="Helvetica Neue"/>
              </a:rPr>
              <a:t>In healthcare and finance, that combination is a hard stop</a:t>
            </a:r>
          </a:p>
          <a:p>
            <a:pPr marL="342900" indent="-342900">
              <a:spcAft>
                <a:spcPts val="2000"/>
              </a:spcAft>
            </a:pPr>
            <a:r>
              <a:rPr sz="2400" b="1">
                <a:solidFill>
                  <a:srgbClr val="B4311A"/>
                </a:solidFill>
                <a:latin typeface="Helvetica Neue"/>
              </a:rPr>
              <a:t>-   </a:t>
            </a:r>
            <a:r>
              <a:rPr sz="2400" b="0">
                <a:solidFill>
                  <a:srgbClr val="141B2D"/>
                </a:solidFill>
                <a:latin typeface="Helvetica Neue"/>
              </a:rPr>
              <a:t>Zero-trust stopped being a buzzword and became a blocker to relevance tuning</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Redaction is reactive by construction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You collect the PII first, then try to remove it</a:t>
            </a:r>
          </a:p>
          <a:p>
            <a:pPr marL="342900" indent="-342900">
              <a:spcAft>
                <a:spcPts val="2000"/>
              </a:spcAft>
            </a:pPr>
            <a:r>
              <a:rPr sz="2400" b="1">
                <a:solidFill>
                  <a:srgbClr val="005EB8"/>
                </a:solidFill>
                <a:latin typeface="Helvetica Neue"/>
              </a:rPr>
              <a:t>-   </a:t>
            </a:r>
            <a:r>
              <a:rPr sz="2400" b="0">
                <a:solidFill>
                  <a:srgbClr val="141B2D"/>
                </a:solidFill>
                <a:latin typeface="Helvetica Neue"/>
              </a:rPr>
              <a:t>You discover the failure after the fact, if at all</a:t>
            </a:r>
          </a:p>
          <a:p>
            <a:pPr marL="342900" indent="-342900">
              <a:spcAft>
                <a:spcPts val="2000"/>
              </a:spcAft>
            </a:pPr>
            <a:r>
              <a:rPr sz="2400" b="1">
                <a:solidFill>
                  <a:srgbClr val="005EB8"/>
                </a:solidFill>
                <a:latin typeface="Helvetica Neue"/>
              </a:rPr>
              <a:t>-   </a:t>
            </a:r>
            <a:r>
              <a:rPr sz="2400" b="0">
                <a:solidFill>
                  <a:srgbClr val="141B2D"/>
                </a:solidFill>
                <a:latin typeface="Helvetica Neue"/>
              </a:rPr>
              <a:t>A free-text query has no schema to redact against</a:t>
            </a:r>
          </a:p>
          <a:p>
            <a:pPr marL="342900" indent="-342900">
              <a:spcAft>
                <a:spcPts val="2000"/>
              </a:spcAft>
            </a:pPr>
            <a:r>
              <a:rPr sz="2400" b="1">
                <a:solidFill>
                  <a:srgbClr val="005EB8"/>
                </a:solidFill>
                <a:latin typeface="Helvetica Neue"/>
              </a:rPr>
              <a:t>-   </a:t>
            </a:r>
            <a:r>
              <a:rPr sz="2400" b="0">
                <a:solidFill>
                  <a:srgbClr val="141B2D"/>
                </a:solidFill>
                <a:latin typeface="Helvetica Neue"/>
              </a:rPr>
              <a:t>The fix has to be that the sensitive value never leaves the device readable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ACT 2</a:t>
            </a:r>
          </a:p>
          <a:p>
            <a:pPr>
              <a:spcBef>
                <a:spcPts val="1000"/>
              </a:spcBef>
            </a:pPr>
            <a:r>
              <a:rPr sz="4200" b="1">
                <a:solidFill>
                  <a:srgbClr val="FFFFFF"/>
                </a:solidFill>
                <a:latin typeface="Helvetica Neue"/>
              </a:rPr>
              <a:t>Embeddings are not anonymization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obvious first idea</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"We will not store the text. We will store the embedding."</a:t>
            </a:r>
          </a:p>
          <a:p>
            <a:pPr marL="342900" indent="-342900">
              <a:spcAft>
                <a:spcPts val="2000"/>
              </a:spcAft>
            </a:pPr>
            <a:r>
              <a:rPr sz="2400" b="1">
                <a:solidFill>
                  <a:srgbClr val="005EB8"/>
                </a:solidFill>
                <a:latin typeface="Helvetica Neue"/>
              </a:rPr>
              <a:t>-   </a:t>
            </a:r>
            <a:r>
              <a:rPr sz="2400" b="0">
                <a:solidFill>
                  <a:srgbClr val="141B2D"/>
                </a:solidFill>
                <a:latin typeface="Helvetica Neue"/>
              </a:rPr>
              <a:t>It feels private. It is a vector of floats, not words</a:t>
            </a:r>
          </a:p>
          <a:p>
            <a:pPr marL="342900" indent="-342900">
              <a:spcAft>
                <a:spcPts val="2000"/>
              </a:spcAft>
            </a:pPr>
            <a:r>
              <a:rPr sz="2400" b="1">
                <a:solidFill>
                  <a:srgbClr val="005EB8"/>
                </a:solidFill>
                <a:latin typeface="Helvetica Neue"/>
              </a:rPr>
              <a:t>-   </a:t>
            </a:r>
            <a:r>
              <a:rPr sz="2400" b="0">
                <a:solidFill>
                  <a:srgbClr val="141B2D"/>
                </a:solidFill>
                <a:latin typeface="Helvetica Neue"/>
              </a:rPr>
              <a:t>It is not private. It is a lossy encoding</a:t>
            </a:r>
          </a:p>
          <a:p>
            <a:pPr marL="342900" indent="-342900">
              <a:spcAft>
                <a:spcPts val="2000"/>
              </a:spcAft>
            </a:pPr>
            <a:r>
              <a:rPr sz="2400" b="1">
                <a:solidFill>
                  <a:srgbClr val="005EB8"/>
                </a:solidFill>
                <a:latin typeface="Helvetica Neue"/>
              </a:rPr>
              <a:t>-   </a:t>
            </a:r>
            <a:r>
              <a:rPr sz="2400" b="0">
                <a:solidFill>
                  <a:srgbClr val="141B2D"/>
                </a:solidFill>
                <a:latin typeface="Helvetica Neue"/>
              </a:rPr>
              <a:t>Vector inversion recovers the intent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square">
            <a:spAutoFit/>
          </a:bodyPr>
          <a:lstStyle/>
          <a:p>
            <a:r>
              <a:rPr sz="1800" b="1">
                <a:solidFill>
                  <a:srgbClr val="5A9BE8"/>
                </a:solidFill>
                <a:latin typeface="Helvetica Neue"/>
              </a:rPr>
              <a:t>LIVE NOTEBOOK</a:t>
            </a:r>
          </a:p>
        </p:txBody>
      </p:sp>
      <p:sp>
        <p:nvSpPr>
          <p:cNvPr id="3" name="TextBox 2"/>
          <p:cNvSpPr txBox="1"/>
          <p:nvPr/>
        </p:nvSpPr>
        <p:spPr>
          <a:xfrm>
            <a:off x="822960" y="2377440"/>
            <a:ext cx="10515600" cy="1097280"/>
          </a:xfrm>
          <a:prstGeom prst="rect">
            <a:avLst/>
          </a:prstGeom>
          <a:noFill/>
        </p:spPr>
        <p:txBody>
          <a:bodyPr wrap="square">
            <a:spAutoFit/>
          </a:bodyPr>
          <a:lstStyle/>
          <a:p>
            <a:r>
              <a:rPr sz="3800" b="1">
                <a:solidFill>
                  <a:srgbClr val="FFFFFF"/>
                </a:solidFill>
                <a:latin typeface="Helvetica Neue"/>
              </a:rPr>
              <a:t>Demo: invert a raw query vector</a:t>
            </a:r>
          </a:p>
        </p:txBody>
      </p:sp>
      <p:sp>
        <p:nvSpPr>
          <p:cNvPr id="4" name="TextBox 3"/>
          <p:cNvSpPr txBox="1"/>
          <p:nvPr/>
        </p:nvSpPr>
        <p:spPr>
          <a:xfrm>
            <a:off x="822960" y="3749039"/>
            <a:ext cx="10515600" cy="1828800"/>
          </a:xfrm>
          <a:prstGeom prst="rect">
            <a:avLst/>
          </a:prstGeom>
          <a:noFill/>
        </p:spPr>
        <p:txBody>
          <a:bodyPr wrap="square">
            <a:spAutoFit/>
          </a:bodyPr>
          <a:lstStyle/>
          <a:p>
            <a:pPr>
              <a:spcAft>
                <a:spcPts val="1200"/>
              </a:spcAft>
            </a:pPr>
            <a:r>
              <a:rPr sz="2200" b="0">
                <a:solidFill>
                  <a:srgbClr val="B8C2D4"/>
                </a:solidFill>
                <a:latin typeface="Helvetica Neue"/>
              </a:rPr>
              <a:t>Notebook sections 1 to 6, then section 9</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raw vector gives up the intent</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Query: "laptop computer"</a:t>
            </a:r>
          </a:p>
          <a:p>
            <a:pPr marL="342900" indent="-342900">
              <a:spcAft>
                <a:spcPts val="2000"/>
              </a:spcAft>
            </a:pPr>
            <a:r>
              <a:rPr sz="2400" b="1">
                <a:solidFill>
                  <a:srgbClr val="B4311A"/>
                </a:solidFill>
                <a:latin typeface="Helvetica Neue"/>
              </a:rPr>
              <a:t>-   </a:t>
            </a:r>
            <a:r>
              <a:rPr sz="2400" b="0">
                <a:solidFill>
                  <a:srgbClr val="141B2D"/>
                </a:solidFill>
                <a:latin typeface="Helvetica Neue"/>
              </a:rPr>
              <a:t>Attacker inverts the raw vector, top hit: Laptop</a:t>
            </a:r>
          </a:p>
          <a:p>
            <a:pPr marL="342900" indent="-342900">
              <a:spcAft>
                <a:spcPts val="2000"/>
              </a:spcAft>
            </a:pPr>
            <a:r>
              <a:rPr sz="2400" b="1">
                <a:solidFill>
                  <a:srgbClr val="B4311A"/>
                </a:solidFill>
                <a:latin typeface="Helvetica Neue"/>
              </a:rPr>
              <a:t>-   </a:t>
            </a:r>
            <a:r>
              <a:rPr sz="2400" b="0">
                <a:solidFill>
                  <a:srgbClr val="141B2D"/>
                </a:solidFill>
                <a:latin typeface="Helvetica Neue"/>
              </a:rPr>
              <a:t>No text was stored, and the intent leaked anyway</a:t>
            </a:r>
          </a:p>
          <a:p>
            <a:pPr marL="342900" indent="-342900">
              <a:spcAft>
                <a:spcPts val="2000"/>
              </a:spcAft>
            </a:pPr>
            <a:r>
              <a:rPr sz="2400" b="1">
                <a:solidFill>
                  <a:srgbClr val="B4311A"/>
                </a:solidFill>
                <a:latin typeface="Helvetica Neue"/>
              </a:rPr>
              <a:t>-   </a:t>
            </a:r>
            <a:r>
              <a:rPr sz="2400" b="0">
                <a:solidFill>
                  <a:srgbClr val="141B2D"/>
                </a:solidFill>
                <a:latin typeface="Helvetica Neue"/>
              </a:rPr>
              <a:t>Storing embeddings is not a privacy control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ACT 3</a:t>
            </a:r>
          </a:p>
          <a:p>
            <a:pPr>
              <a:spcBef>
                <a:spcPts val="1000"/>
              </a:spcBef>
            </a:pPr>
            <a:r>
              <a:rPr sz="4200" b="1">
                <a:solidFill>
                  <a:srgbClr val="FFFFFF"/>
                </a:solidFill>
                <a:latin typeface="Helvetica Neue"/>
              </a:rPr>
              <a:t>The mechanism, and how to verify it</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Local Differential Privacy, in one slide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Add calibrated Laplace noise to the query vector on the device</a:t>
            </a:r>
          </a:p>
          <a:p>
            <a:pPr marL="342900" indent="-342900">
              <a:spcAft>
                <a:spcPts val="2000"/>
              </a:spcAft>
            </a:pPr>
            <a:r>
              <a:rPr sz="2400" b="1">
                <a:solidFill>
                  <a:srgbClr val="005EB8"/>
                </a:solidFill>
                <a:latin typeface="Helvetica Neue"/>
              </a:rPr>
              <a:t>-   </a:t>
            </a:r>
            <a:r>
              <a:rPr sz="2400" b="0">
                <a:solidFill>
                  <a:srgbClr val="141B2D"/>
                </a:solidFill>
                <a:latin typeface="Helvetica Neue"/>
              </a:rPr>
              <a:t>Noise scale = sensitivity / epsilon</a:t>
            </a:r>
          </a:p>
          <a:p>
            <a:pPr marL="342900" indent="-342900">
              <a:spcAft>
                <a:spcPts val="2000"/>
              </a:spcAft>
            </a:pPr>
            <a:r>
              <a:rPr sz="2400" b="1">
                <a:solidFill>
                  <a:srgbClr val="005EB8"/>
                </a:solidFill>
                <a:latin typeface="Helvetica Neue"/>
              </a:rPr>
              <a:t>-   </a:t>
            </a:r>
            <a:r>
              <a:rPr sz="2400" b="0">
                <a:solidFill>
                  <a:srgbClr val="141B2D"/>
                </a:solidFill>
                <a:latin typeface="Helvetica Neue"/>
              </a:rPr>
              <a:t>Epsilon is the dial. Lower epsilon means more noise and more privacy</a:t>
            </a:r>
          </a:p>
          <a:p>
            <a:pPr marL="342900" indent="-342900">
              <a:spcAft>
                <a:spcPts val="2000"/>
              </a:spcAft>
            </a:pPr>
            <a:r>
              <a:rPr sz="2400" b="1">
                <a:solidFill>
                  <a:srgbClr val="005EB8"/>
                </a:solidFill>
                <a:latin typeface="Helvetica Neue"/>
              </a:rPr>
              <a:t>-   </a:t>
            </a:r>
            <a:r>
              <a:rPr sz="2400" b="0">
                <a:solidFill>
                  <a:srgbClr val="141B2D"/>
                </a:solidFill>
                <a:latin typeface="Helvetica Neue"/>
              </a:rPr>
              <a:t>The cluster never receives a readable query. There is nothing to scrub</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1: the noise is what we claim</a:t>
            </a:r>
          </a:p>
        </p:txBody>
      </p:sp>
      <p:pic>
        <p:nvPicPr>
          <p:cNvPr id="3" name="Picture 2" descr="08_laplace_tent_audit.png"/>
          <p:cNvPicPr>
            <a:picLocks noChangeAspect="1"/>
          </p:cNvPicPr>
          <p:nvPr/>
        </p:nvPicPr>
        <p:blipFill>
          <a:blip r:embed="rId2"/>
          <a:stretch>
            <a:fillRect/>
          </a:stretch>
        </p:blipFill>
        <p:spPr>
          <a:xfrm>
            <a:off x="2172111" y="1417320"/>
            <a:ext cx="7847473" cy="4343400"/>
          </a:xfrm>
          <a:prstGeom prst="rect">
            <a:avLst/>
          </a:prstGeom>
        </p:spPr>
      </p:pic>
      <p:sp>
        <p:nvSpPr>
          <p:cNvPr id="4" name="TextBox 3"/>
          <p:cNvSpPr txBox="1"/>
          <p:nvPr/>
        </p:nvSpPr>
        <p:spPr>
          <a:xfrm>
            <a:off x="822960" y="5989320"/>
            <a:ext cx="10515600" cy="640080"/>
          </a:xfrm>
          <a:prstGeom prst="rect">
            <a:avLst/>
          </a:prstGeom>
          <a:noFill/>
        </p:spPr>
        <p:txBody>
          <a:bodyPr wrap="square">
            <a:spAutoFit/>
          </a:bodyPr>
          <a:lstStyle/>
          <a:p>
            <a:pPr algn="ctr"/>
            <a:r>
              <a:rPr sz="1600" b="0">
                <a:solidFill>
                  <a:srgbClr val="5A647A"/>
                </a:solidFill>
                <a:latin typeface="Helvetica Neue"/>
              </a:rPr>
              <a:t>1,000 draws of the same query. The Laplace tent, centred on the true value.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2: measure an actual attacker</a:t>
            </a:r>
          </a:p>
        </p:txBody>
      </p:sp>
      <p:pic>
        <p:nvPicPr>
          <p:cNvPr id="3" name="Picture 2" descr="10_item_vs_class_recovery.png"/>
          <p:cNvPicPr>
            <a:picLocks noChangeAspect="1"/>
          </p:cNvPicPr>
          <p:nvPr/>
        </p:nvPicPr>
        <p:blipFill>
          <a:blip r:embed="rId2"/>
          <a:stretch>
            <a:fillRect/>
          </a:stretch>
        </p:blipFill>
        <p:spPr>
          <a:xfrm>
            <a:off x="2505894" y="1417320"/>
            <a:ext cx="7179906" cy="4343400"/>
          </a:xfrm>
          <a:prstGeom prst="rect">
            <a:avLst/>
          </a:prstGeom>
        </p:spPr>
      </p:pic>
      <p:sp>
        <p:nvSpPr>
          <p:cNvPr id="4" name="TextBox 3"/>
          <p:cNvSpPr txBox="1"/>
          <p:nvPr/>
        </p:nvSpPr>
        <p:spPr>
          <a:xfrm>
            <a:off x="822960" y="5989320"/>
            <a:ext cx="10515600" cy="640080"/>
          </a:xfrm>
          <a:prstGeom prst="rect">
            <a:avLst/>
          </a:prstGeom>
          <a:noFill/>
        </p:spPr>
        <p:txBody>
          <a:bodyPr wrap="square">
            <a:spAutoFit/>
          </a:bodyPr>
          <a:lstStyle/>
          <a:p>
            <a:pPr algn="ctr"/>
            <a:r>
              <a:rPr sz="1600" b="0">
                <a:solidFill>
                  <a:srgbClr val="5A647A"/>
                </a:solidFill>
                <a:latin typeface="Helvetica Neue"/>
              </a:rPr>
              <a:t>42,994 real Wayfair products. Attacker success against epsilon.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ACT 4</a:t>
            </a:r>
          </a:p>
          <a:p>
            <a:pPr>
              <a:spcBef>
                <a:spcPts val="1000"/>
              </a:spcBef>
            </a:pPr>
            <a:r>
              <a:rPr sz="4200" b="1">
                <a:solidFill>
                  <a:srgbClr val="FFFFFF"/>
                </a:solidFill>
                <a:latin typeface="Helvetica Neue"/>
              </a:rPr>
              <a:t>What it costs</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That first demo was rigged</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It ran at epsilon 1.2 on a 20 document index</a:t>
            </a:r>
          </a:p>
          <a:p>
            <a:pPr marL="342900" indent="-342900">
              <a:spcAft>
                <a:spcPts val="2000"/>
              </a:spcAft>
            </a:pPr>
            <a:r>
              <a:rPr sz="2400" b="1">
                <a:solidFill>
                  <a:srgbClr val="B4311A"/>
                </a:solidFill>
                <a:latin typeface="Helvetica Neue"/>
              </a:rPr>
              <a:t>-   </a:t>
            </a:r>
            <a:r>
              <a:rPr sz="2400" b="0">
                <a:solidFill>
                  <a:srgbClr val="141B2D"/>
                </a:solidFill>
                <a:latin typeface="Helvetica Neue"/>
              </a:rPr>
              <a:t>Privacy was excellent. Utility was destroyed</a:t>
            </a:r>
          </a:p>
          <a:p>
            <a:pPr marL="342900" indent="-342900">
              <a:spcAft>
                <a:spcPts val="2000"/>
              </a:spcAft>
            </a:pPr>
            <a:r>
              <a:rPr sz="2400" b="1">
                <a:solidFill>
                  <a:srgbClr val="B4311A"/>
                </a:solidFill>
                <a:latin typeface="Helvetica Neue"/>
              </a:rPr>
              <a:t>-   </a:t>
            </a:r>
            <a:r>
              <a:rPr sz="2400" b="0">
                <a:solidFill>
                  <a:srgbClr val="141B2D"/>
                </a:solidFill>
                <a:latin typeface="Helvetica Neue"/>
              </a:rPr>
              <a:t>P@1 of 0.07 against a random baseline of 0.05</a:t>
            </a:r>
          </a:p>
          <a:p>
            <a:pPr marL="342900" indent="-342900">
              <a:spcAft>
                <a:spcPts val="2000"/>
              </a:spcAft>
            </a:pPr>
            <a:r>
              <a:rPr sz="2400" b="1">
                <a:solidFill>
                  <a:srgbClr val="B4311A"/>
                </a:solidFill>
                <a:latin typeface="Helvetica Neue"/>
              </a:rPr>
              <a:t>-   </a:t>
            </a:r>
            <a:r>
              <a:rPr sz="2400" b="0">
                <a:solidFill>
                  <a:srgbClr val="141B2D"/>
                </a:solidFill>
                <a:latin typeface="Helvetica Neue"/>
              </a:rPr>
              <a:t>The attacker learned nothing, and neither did the user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The tradeoff on the toy index</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R@5 holds up long after P@1 collapses. The usable window is epsilon 3 to 5.</a:t>
            </a:r>
          </a:p>
        </p:txBody>
      </p:sp>
      <p:graphicFrame>
        <p:nvGraphicFramePr>
          <p:cNvPr id="5" name="Table 4"/>
          <p:cNvGraphicFramePr>
            <a:graphicFrameLocks noGrp="1"/>
          </p:cNvGraphicFramePr>
          <p:nvPr/>
        </p:nvGraphicFramePr>
        <p:xfrm>
          <a:off x="1523847" y="2514600"/>
          <a:ext cx="9144000" cy="2834640"/>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r>
                        <a:rPr sz="1800" b="1">
                          <a:solidFill>
                            <a:srgbClr val="FFFFFF"/>
                          </a:solidFill>
                          <a:latin typeface="Helvetica Neue"/>
                        </a:rPr>
                        <a:t>epsilon</a:t>
                      </a:r>
                    </a:p>
                  </a:txBody>
                  <a:tcPr anchor="ctr">
                    <a:solidFill>
                      <a:srgbClr val="005EB8"/>
                    </a:solidFill>
                  </a:tcPr>
                </a:tc>
                <a:tc>
                  <a:txBody>
                    <a:bodyPr/>
                    <a:lstStyle/>
                    <a:p>
                      <a:pPr algn="ctr"/>
                      <a:r>
                        <a:rPr sz="1800" b="1">
                          <a:solidFill>
                            <a:srgbClr val="FFFFFF"/>
                          </a:solidFill>
                          <a:latin typeface="Helvetica Neue"/>
                        </a:rPr>
                        <a:t>P@1</a:t>
                      </a:r>
                    </a:p>
                  </a:txBody>
                  <a:tcPr anchor="ctr">
                    <a:solidFill>
                      <a:srgbClr val="005EB8"/>
                    </a:solidFill>
                  </a:tcPr>
                </a:tc>
                <a:tc>
                  <a:txBody>
                    <a:bodyPr/>
                    <a:lstStyle/>
                    <a:p>
                      <a:pPr algn="ctr"/>
                      <a:r>
                        <a:rPr sz="1800" b="1">
                          <a:solidFill>
                            <a:srgbClr val="FFFFFF"/>
                          </a:solidFill>
                          <a:latin typeface="Helvetica Neue"/>
                        </a:rPr>
                        <a:t>R@5</a:t>
                      </a:r>
                    </a:p>
                  </a:txBody>
                  <a:tcPr anchor="ctr">
                    <a:solidFill>
                      <a:srgbClr val="005EB8"/>
                    </a:solidFill>
                  </a:tcPr>
                </a:tc>
              </a:tr>
              <a:tr h="566928">
                <a:tc>
                  <a:txBody>
                    <a:bodyPr/>
                    <a:lstStyle/>
                    <a:p>
                      <a:pPr algn="l"/>
                      <a:r>
                        <a:rPr sz="1800" b="0">
                          <a:solidFill>
                            <a:srgbClr val="141B2D"/>
                          </a:solidFill>
                          <a:latin typeface="Helvetica Neue"/>
                        </a:rPr>
                        <a:t>1.2</a:t>
                      </a:r>
                    </a:p>
                  </a:txBody>
                  <a:tcPr anchor="ctr">
                    <a:solidFill>
                      <a:srgbClr val="F4F7FB"/>
                    </a:solidFill>
                  </a:tcPr>
                </a:tc>
                <a:tc>
                  <a:txBody>
                    <a:bodyPr/>
                    <a:lstStyle/>
                    <a:p>
                      <a:pPr algn="ctr"/>
                      <a:r>
                        <a:rPr sz="1800" b="0">
                          <a:solidFill>
                            <a:srgbClr val="141B2D"/>
                          </a:solidFill>
                          <a:latin typeface="Helvetica Neue"/>
                        </a:rPr>
                        <a:t>0.07</a:t>
                      </a:r>
                    </a:p>
                  </a:txBody>
                  <a:tcPr anchor="ctr">
                    <a:solidFill>
                      <a:srgbClr val="F4F7FB"/>
                    </a:solidFill>
                  </a:tcPr>
                </a:tc>
                <a:tc>
                  <a:txBody>
                    <a:bodyPr/>
                    <a:lstStyle/>
                    <a:p>
                      <a:pPr algn="ctr"/>
                      <a:r>
                        <a:rPr sz="1800" b="0">
                          <a:solidFill>
                            <a:srgbClr val="141B2D"/>
                          </a:solidFill>
                          <a:latin typeface="Helvetica Neue"/>
                        </a:rPr>
                        <a:t>0.45</a:t>
                      </a:r>
                    </a:p>
                  </a:txBody>
                  <a:tcPr anchor="ctr">
                    <a:solidFill>
                      <a:srgbClr val="F4F7FB"/>
                    </a:solidFill>
                  </a:tcPr>
                </a:tc>
              </a:tr>
              <a:tr h="566928">
                <a:tc>
                  <a:txBody>
                    <a:bodyPr/>
                    <a:lstStyle/>
                    <a:p>
                      <a:pPr algn="l"/>
                      <a:r>
                        <a:rPr sz="1800" b="0">
                          <a:solidFill>
                            <a:srgbClr val="141B2D"/>
                          </a:solidFill>
                          <a:latin typeface="Helvetica Neue"/>
                        </a:rPr>
                        <a:t>3</a:t>
                      </a:r>
                    </a:p>
                  </a:txBody>
                  <a:tcPr anchor="ctr">
                    <a:solidFill>
                      <a:srgbClr val="FFFFFF"/>
                    </a:solidFill>
                  </a:tcPr>
                </a:tc>
                <a:tc>
                  <a:txBody>
                    <a:bodyPr/>
                    <a:lstStyle/>
                    <a:p>
                      <a:pPr algn="ctr"/>
                      <a:r>
                        <a:rPr sz="1800" b="0">
                          <a:solidFill>
                            <a:srgbClr val="141B2D"/>
                          </a:solidFill>
                          <a:latin typeface="Helvetica Neue"/>
                        </a:rPr>
                        <a:t>0.38</a:t>
                      </a:r>
                    </a:p>
                  </a:txBody>
                  <a:tcPr anchor="ctr">
                    <a:solidFill>
                      <a:srgbClr val="FFFFFF"/>
                    </a:solidFill>
                  </a:tcPr>
                </a:tc>
                <a:tc>
                  <a:txBody>
                    <a:bodyPr/>
                    <a:lstStyle/>
                    <a:p>
                      <a:pPr algn="ctr"/>
                      <a:r>
                        <a:rPr sz="1800" b="0">
                          <a:solidFill>
                            <a:srgbClr val="141B2D"/>
                          </a:solidFill>
                          <a:latin typeface="Helvetica Neue"/>
                        </a:rPr>
                        <a:t>0.75</a:t>
                      </a:r>
                    </a:p>
                  </a:txBody>
                  <a:tcPr anchor="ctr">
                    <a:solidFill>
                      <a:srgbClr val="FFFFFF"/>
                    </a:solidFill>
                  </a:tcPr>
                </a:tc>
              </a:tr>
              <a:tr h="566928">
                <a:tc>
                  <a:txBody>
                    <a:bodyPr/>
                    <a:lstStyle/>
                    <a:p>
                      <a:pPr algn="l"/>
                      <a:r>
                        <a:rPr sz="1800" b="0">
                          <a:solidFill>
                            <a:srgbClr val="141B2D"/>
                          </a:solidFill>
                          <a:latin typeface="Helvetica Neue"/>
                        </a:rPr>
                        <a:t>5</a:t>
                      </a:r>
                    </a:p>
                  </a:txBody>
                  <a:tcPr anchor="ctr">
                    <a:solidFill>
                      <a:srgbClr val="F4F7FB"/>
                    </a:solidFill>
                  </a:tcPr>
                </a:tc>
                <a:tc>
                  <a:txBody>
                    <a:bodyPr/>
                    <a:lstStyle/>
                    <a:p>
                      <a:pPr algn="ctr"/>
                      <a:r>
                        <a:rPr sz="1800" b="0">
                          <a:solidFill>
                            <a:srgbClr val="141B2D"/>
                          </a:solidFill>
                          <a:latin typeface="Helvetica Neue"/>
                        </a:rPr>
                        <a:t>0.72</a:t>
                      </a:r>
                    </a:p>
                  </a:txBody>
                  <a:tcPr anchor="ctr">
                    <a:solidFill>
                      <a:srgbClr val="F4F7FB"/>
                    </a:solidFill>
                  </a:tcPr>
                </a:tc>
                <a:tc>
                  <a:txBody>
                    <a:bodyPr/>
                    <a:lstStyle/>
                    <a:p>
                      <a:pPr algn="ctr"/>
                      <a:r>
                        <a:rPr sz="1800" b="0">
                          <a:solidFill>
                            <a:srgbClr val="141B2D"/>
                          </a:solidFill>
                          <a:latin typeface="Helvetica Neue"/>
                        </a:rPr>
                        <a:t>0.95</a:t>
                      </a:r>
                    </a:p>
                  </a:txBody>
                  <a:tcPr anchor="ctr">
                    <a:solidFill>
                      <a:srgbClr val="F4F7FB"/>
                    </a:solidFill>
                  </a:tcPr>
                </a:tc>
              </a:tr>
              <a:tr h="566928">
                <a:tc>
                  <a:txBody>
                    <a:bodyPr/>
                    <a:lstStyle/>
                    <a:p>
                      <a:pPr algn="l"/>
                      <a:r>
                        <a:rPr sz="1800" b="0">
                          <a:solidFill>
                            <a:srgbClr val="141B2D"/>
                          </a:solidFill>
                          <a:latin typeface="Helvetica Neue"/>
                        </a:rPr>
                        <a:t>10</a:t>
                      </a:r>
                    </a:p>
                  </a:txBody>
                  <a:tcPr anchor="ctr">
                    <a:solidFill>
                      <a:srgbClr val="FFFFFF"/>
                    </a:solidFill>
                  </a:tcPr>
                </a:tc>
                <a:tc>
                  <a:txBody>
                    <a:bodyPr/>
                    <a:lstStyle/>
                    <a:p>
                      <a:pPr algn="ctr"/>
                      <a:r>
                        <a:rPr sz="1800" b="0">
                          <a:solidFill>
                            <a:srgbClr val="141B2D"/>
                          </a:solidFill>
                          <a:latin typeface="Helvetica Neue"/>
                        </a:rPr>
                        <a:t>0.98</a:t>
                      </a:r>
                    </a:p>
                  </a:txBody>
                  <a:tcPr anchor="ctr">
                    <a:solidFill>
                      <a:srgbClr val="FFFFFF"/>
                    </a:solidFill>
                  </a:tcPr>
                </a:tc>
                <a:tc>
                  <a:txBody>
                    <a:bodyPr/>
                    <a:lstStyle/>
                    <a:p>
                      <a:pPr algn="ctr"/>
                      <a:r>
                        <a:rPr sz="1800" b="0">
                          <a:solidFill>
                            <a:srgbClr val="141B2D"/>
                          </a:solidFill>
                          <a:latin typeface="Helvetica Neue"/>
                        </a:rPr>
                        <a:t>1.00</a:t>
                      </a:r>
                    </a:p>
                  </a:txBody>
                  <a:tcPr anchor="ctr">
                    <a:solidFill>
                      <a:srgbClr val="FFFFFF"/>
                    </a:solidFill>
                  </a:tcPr>
                </a:tc>
              </a:tr>
            </a:tbl>
          </a:graphicData>
        </a:graphic>
      </p:graphicFrame>
      <p:sp>
        <p:nvSpPr>
          <p:cNvPr id="6" name="TextBox 5"/>
          <p:cNvSpPr txBox="1"/>
          <p:nvPr/>
        </p:nvSpPr>
        <p:spPr>
          <a:xfrm>
            <a:off x="822960" y="5943600"/>
            <a:ext cx="10515600" cy="640080"/>
          </a:xfrm>
          <a:prstGeom prst="rect">
            <a:avLst/>
          </a:prstGeom>
          <a:noFill/>
        </p:spPr>
        <p:txBody>
          <a:bodyPr wrap="square">
            <a:spAutoFit/>
          </a:bodyPr>
          <a:lstStyle/>
          <a:p>
            <a:pPr algn="ctr"/>
            <a:r>
              <a:rPr sz="1500" b="0">
                <a:solidFill>
                  <a:srgbClr val="5A647A"/>
                </a:solidFill>
                <a:latin typeface="Helvetica Neue"/>
              </a:rPr>
              <a:t>20 documents. Random chance is P@1 0.05 and R@5 0.25.</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A real index: the curves separate</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category leaks long before the item. At epsilon 10, 0.63 against 0.13.</a:t>
            </a:r>
          </a:p>
        </p:txBody>
      </p:sp>
      <p:graphicFrame>
        <p:nvGraphicFramePr>
          <p:cNvPr id="5" name="Table 4"/>
          <p:cNvGraphicFramePr>
            <a:graphicFrameLocks noGrp="1"/>
          </p:cNvGraphicFramePr>
          <p:nvPr/>
        </p:nvGraphicFramePr>
        <p:xfrm>
          <a:off x="1523847" y="2514600"/>
          <a:ext cx="9144000" cy="2834640"/>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r>
                        <a:rPr sz="1800" b="1">
                          <a:solidFill>
                            <a:srgbClr val="FFFFFF"/>
                          </a:solidFill>
                          <a:latin typeface="Helvetica Neue"/>
                        </a:rPr>
                        <a:t>epsilon</a:t>
                      </a:r>
                    </a:p>
                  </a:txBody>
                  <a:tcPr anchor="ctr">
                    <a:solidFill>
                      <a:srgbClr val="005EB8"/>
                    </a:solidFill>
                  </a:tcPr>
                </a:tc>
                <a:tc>
                  <a:txBody>
                    <a:bodyPr/>
                    <a:lstStyle/>
                    <a:p>
                      <a:pPr algn="ctr"/>
                      <a:r>
                        <a:rPr sz="1800" b="1">
                          <a:solidFill>
                            <a:srgbClr val="FFFFFF"/>
                          </a:solidFill>
                          <a:latin typeface="Helvetica Neue"/>
                        </a:rPr>
                        <a:t>item P@1</a:t>
                      </a:r>
                    </a:p>
                  </a:txBody>
                  <a:tcPr anchor="ctr">
                    <a:solidFill>
                      <a:srgbClr val="005EB8"/>
                    </a:solidFill>
                  </a:tcPr>
                </a:tc>
                <a:tc>
                  <a:txBody>
                    <a:bodyPr/>
                    <a:lstStyle/>
                    <a:p>
                      <a:pPr algn="ctr"/>
                      <a:r>
                        <a:rPr sz="1800" b="1">
                          <a:solidFill>
                            <a:srgbClr val="FFFFFF"/>
                          </a:solidFill>
                          <a:latin typeface="Helvetica Neue"/>
                        </a:rPr>
                        <a:t>class P@1</a:t>
                      </a:r>
                    </a:p>
                  </a:txBody>
                  <a:tcPr anchor="ctr">
                    <a:solidFill>
                      <a:srgbClr val="005EB8"/>
                    </a:solidFill>
                  </a:tcPr>
                </a:tc>
              </a:tr>
              <a:tr h="566928">
                <a:tc>
                  <a:txBody>
                    <a:bodyPr/>
                    <a:lstStyle/>
                    <a:p>
                      <a:pPr algn="l"/>
                      <a:r>
                        <a:rPr sz="1800" b="0">
                          <a:solidFill>
                            <a:srgbClr val="141B2D"/>
                          </a:solidFill>
                          <a:latin typeface="Helvetica Neue"/>
                        </a:rPr>
                        <a:t>5</a:t>
                      </a:r>
                    </a:p>
                  </a:txBody>
                  <a:tcPr anchor="ctr">
                    <a:solidFill>
                      <a:srgbClr val="F4F7FB"/>
                    </a:solidFill>
                  </a:tcPr>
                </a:tc>
                <a:tc>
                  <a:txBody>
                    <a:bodyPr/>
                    <a:lstStyle/>
                    <a:p>
                      <a:pPr algn="ctr"/>
                      <a:r>
                        <a:rPr sz="1800" b="0">
                          <a:solidFill>
                            <a:srgbClr val="141B2D"/>
                          </a:solidFill>
                          <a:latin typeface="Helvetica Neue"/>
                        </a:rPr>
                        <a:t>0.04</a:t>
                      </a:r>
                    </a:p>
                  </a:txBody>
                  <a:tcPr anchor="ctr">
                    <a:solidFill>
                      <a:srgbClr val="F4F7FB"/>
                    </a:solidFill>
                  </a:tcPr>
                </a:tc>
                <a:tc>
                  <a:txBody>
                    <a:bodyPr/>
                    <a:lstStyle/>
                    <a:p>
                      <a:pPr algn="ctr"/>
                      <a:r>
                        <a:rPr sz="1800" b="0">
                          <a:solidFill>
                            <a:srgbClr val="141B2D"/>
                          </a:solidFill>
                          <a:latin typeface="Helvetica Neue"/>
                        </a:rPr>
                        <a:t>0.33</a:t>
                      </a:r>
                    </a:p>
                  </a:txBody>
                  <a:tcPr anchor="ctr">
                    <a:solidFill>
                      <a:srgbClr val="F4F7FB"/>
                    </a:solidFill>
                  </a:tcPr>
                </a:tc>
              </a:tr>
              <a:tr h="566928">
                <a:tc>
                  <a:txBody>
                    <a:bodyPr/>
                    <a:lstStyle/>
                    <a:p>
                      <a:pPr algn="l"/>
                      <a:r>
                        <a:rPr sz="1800" b="0">
                          <a:solidFill>
                            <a:srgbClr val="141B2D"/>
                          </a:solidFill>
                          <a:latin typeface="Helvetica Neue"/>
                        </a:rPr>
                        <a:t>10</a:t>
                      </a:r>
                    </a:p>
                  </a:txBody>
                  <a:tcPr anchor="ctr">
                    <a:solidFill>
                      <a:srgbClr val="FFFFFF"/>
                    </a:solidFill>
                  </a:tcPr>
                </a:tc>
                <a:tc>
                  <a:txBody>
                    <a:bodyPr/>
                    <a:lstStyle/>
                    <a:p>
                      <a:pPr algn="ctr"/>
                      <a:r>
                        <a:rPr sz="1800" b="0">
                          <a:solidFill>
                            <a:srgbClr val="141B2D"/>
                          </a:solidFill>
                          <a:latin typeface="Helvetica Neue"/>
                        </a:rPr>
                        <a:t>0.13</a:t>
                      </a:r>
                    </a:p>
                  </a:txBody>
                  <a:tcPr anchor="ctr">
                    <a:solidFill>
                      <a:srgbClr val="FFFFFF"/>
                    </a:solidFill>
                  </a:tcPr>
                </a:tc>
                <a:tc>
                  <a:txBody>
                    <a:bodyPr/>
                    <a:lstStyle/>
                    <a:p>
                      <a:pPr algn="ctr"/>
                      <a:r>
                        <a:rPr sz="1800" b="0">
                          <a:solidFill>
                            <a:srgbClr val="141B2D"/>
                          </a:solidFill>
                          <a:latin typeface="Helvetica Neue"/>
                        </a:rPr>
                        <a:t>0.63</a:t>
                      </a:r>
                    </a:p>
                  </a:txBody>
                  <a:tcPr anchor="ctr">
                    <a:solidFill>
                      <a:srgbClr val="FFFFFF"/>
                    </a:solidFill>
                  </a:tcPr>
                </a:tc>
              </a:tr>
              <a:tr h="566928">
                <a:tc>
                  <a:txBody>
                    <a:bodyPr/>
                    <a:lstStyle/>
                    <a:p>
                      <a:pPr algn="l"/>
                      <a:r>
                        <a:rPr sz="1800" b="0">
                          <a:solidFill>
                            <a:srgbClr val="141B2D"/>
                          </a:solidFill>
                          <a:latin typeface="Helvetica Neue"/>
                        </a:rPr>
                        <a:t>20</a:t>
                      </a:r>
                    </a:p>
                  </a:txBody>
                  <a:tcPr anchor="ctr">
                    <a:solidFill>
                      <a:srgbClr val="F4F7FB"/>
                    </a:solidFill>
                  </a:tcPr>
                </a:tc>
                <a:tc>
                  <a:txBody>
                    <a:bodyPr/>
                    <a:lstStyle/>
                    <a:p>
                      <a:pPr algn="ctr"/>
                      <a:r>
                        <a:rPr sz="1800" b="0">
                          <a:solidFill>
                            <a:srgbClr val="141B2D"/>
                          </a:solidFill>
                          <a:latin typeface="Helvetica Neue"/>
                        </a:rPr>
                        <a:t>0.42</a:t>
                      </a:r>
                    </a:p>
                  </a:txBody>
                  <a:tcPr anchor="ctr">
                    <a:solidFill>
                      <a:srgbClr val="F4F7FB"/>
                    </a:solidFill>
                  </a:tcPr>
                </a:tc>
                <a:tc>
                  <a:txBody>
                    <a:bodyPr/>
                    <a:lstStyle/>
                    <a:p>
                      <a:pPr algn="ctr"/>
                      <a:r>
                        <a:rPr sz="1800" b="0">
                          <a:solidFill>
                            <a:srgbClr val="141B2D"/>
                          </a:solidFill>
                          <a:latin typeface="Helvetica Neue"/>
                        </a:rPr>
                        <a:t>0.82</a:t>
                      </a:r>
                    </a:p>
                  </a:txBody>
                  <a:tcPr anchor="ctr">
                    <a:solidFill>
                      <a:srgbClr val="F4F7FB"/>
                    </a:solidFill>
                  </a:tcPr>
                </a:tc>
              </a:tr>
              <a:tr h="566928">
                <a:tc>
                  <a:txBody>
                    <a:bodyPr/>
                    <a:lstStyle/>
                    <a:p>
                      <a:pPr algn="l"/>
                      <a:r>
                        <a:rPr sz="1800" b="0">
                          <a:solidFill>
                            <a:srgbClr val="141B2D"/>
                          </a:solidFill>
                          <a:latin typeface="Helvetica Neue"/>
                        </a:rPr>
                        <a:t>50</a:t>
                      </a:r>
                    </a:p>
                  </a:txBody>
                  <a:tcPr anchor="ctr">
                    <a:solidFill>
                      <a:srgbClr val="FFFFFF"/>
                    </a:solidFill>
                  </a:tcPr>
                </a:tc>
                <a:tc>
                  <a:txBody>
                    <a:bodyPr/>
                    <a:lstStyle/>
                    <a:p>
                      <a:pPr algn="ctr"/>
                      <a:r>
                        <a:rPr sz="1800" b="0">
                          <a:solidFill>
                            <a:srgbClr val="141B2D"/>
                          </a:solidFill>
                          <a:latin typeface="Helvetica Neue"/>
                        </a:rPr>
                        <a:t>0.93</a:t>
                      </a:r>
                    </a:p>
                  </a:txBody>
                  <a:tcPr anchor="ctr">
                    <a:solidFill>
                      <a:srgbClr val="FFFFFF"/>
                    </a:solidFill>
                  </a:tcPr>
                </a:tc>
                <a:tc>
                  <a:txBody>
                    <a:bodyPr/>
                    <a:lstStyle/>
                    <a:p>
                      <a:pPr algn="ctr"/>
                      <a:r>
                        <a:rPr sz="1800" b="0">
                          <a:solidFill>
                            <a:srgbClr val="141B2D"/>
                          </a:solidFill>
                          <a:latin typeface="Helvetica Neue"/>
                        </a:rPr>
                        <a:t>0.98</a:t>
                      </a:r>
                    </a:p>
                  </a:txBody>
                  <a:tcPr anchor="ctr">
                    <a:solidFill>
                      <a:srgbClr val="FFFFFF"/>
                    </a:solidFill>
                  </a:tcPr>
                </a:tc>
              </a:tr>
            </a:tbl>
          </a:graphicData>
        </a:graphic>
      </p:graphicFrame>
      <p:sp>
        <p:nvSpPr>
          <p:cNvPr id="6" name="TextBox 5"/>
          <p:cNvSpPr txBox="1"/>
          <p:nvPr/>
        </p:nvSpPr>
        <p:spPr>
          <a:xfrm>
            <a:off x="822960" y="5943600"/>
            <a:ext cx="10515600" cy="640080"/>
          </a:xfrm>
          <a:prstGeom prst="rect">
            <a:avLst/>
          </a:prstGeom>
          <a:noFill/>
        </p:spPr>
        <p:txBody>
          <a:bodyPr wrap="square">
            <a:spAutoFit/>
          </a:bodyPr>
          <a:lstStyle/>
          <a:p>
            <a:pPr algn="ctr"/>
            <a:r>
              <a:rPr sz="1500" b="0">
                <a:solidFill>
                  <a:srgbClr val="5A647A"/>
                </a:solidFill>
                <a:latin typeface="Helvetica Neue"/>
              </a:rPr>
              <a:t>Chance is item 0.00002 and class 0.026. WANDS, 42,994 products, 861 classes.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ACT 5</a:t>
            </a:r>
          </a:p>
          <a:p>
            <a:pPr>
              <a:spcBef>
                <a:spcPts val="1000"/>
              </a:spcBef>
            </a:pPr>
            <a:r>
              <a:rPr sz="4200" b="1">
                <a:solidFill>
                  <a:srgbClr val="FFFFFF"/>
                </a:solidFill>
                <a:latin typeface="Helvetica Neue"/>
              </a:rPr>
              <a:t>What you keep</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asymmetry is the whole point</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Laplace noise is zero-mean</a:t>
            </a:r>
          </a:p>
          <a:p>
            <a:pPr marL="342900" indent="-342900">
              <a:spcAft>
                <a:spcPts val="2000"/>
              </a:spcAft>
            </a:pPr>
            <a:r>
              <a:rPr sz="2400" b="1">
                <a:solidFill>
                  <a:srgbClr val="005EB8"/>
                </a:solidFill>
                <a:latin typeface="Helvetica Neue"/>
              </a:rPr>
              <a:t>-   </a:t>
            </a:r>
            <a:r>
              <a:rPr sz="2400" b="0">
                <a:solidFill>
                  <a:srgbClr val="141B2D"/>
                </a:solidFill>
                <a:latin typeface="Helvetica Neue"/>
              </a:rPr>
              <a:t>It cancels when you average over many independent users</a:t>
            </a:r>
          </a:p>
          <a:p>
            <a:pPr marL="342900" indent="-342900">
              <a:spcAft>
                <a:spcPts val="2000"/>
              </a:spcAft>
            </a:pPr>
            <a:r>
              <a:rPr sz="2400" b="1">
                <a:solidFill>
                  <a:srgbClr val="005EB8"/>
                </a:solidFill>
                <a:latin typeface="Helvetica Neue"/>
              </a:rPr>
              <a:t>-   </a:t>
            </a:r>
            <a:r>
              <a:rPr sz="2400" b="0">
                <a:solidFill>
                  <a:srgbClr val="141B2D"/>
                </a:solidFill>
                <a:latin typeface="Helvetica Neue"/>
              </a:rPr>
              <a:t>One person's query is unrecoverable</a:t>
            </a:r>
          </a:p>
          <a:p>
            <a:pPr marL="342900" indent="-342900">
              <a:spcAft>
                <a:spcPts val="2000"/>
              </a:spcAft>
            </a:pPr>
            <a:r>
              <a:rPr sz="2400" b="1">
                <a:solidFill>
                  <a:srgbClr val="005EB8"/>
                </a:solidFill>
                <a:latin typeface="Helvetica Neue"/>
              </a:rPr>
              <a:t>-   </a:t>
            </a:r>
            <a:r>
              <a:rPr sz="2400" b="0">
                <a:solidFill>
                  <a:srgbClr val="141B2D"/>
                </a:solidFill>
                <a:latin typeface="Helvetica Neue"/>
              </a:rPr>
              <a:t>The trend across ten thousand people is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square">
            <a:spAutoFit/>
          </a:bodyPr>
          <a:lstStyle/>
          <a:p>
            <a:r>
              <a:rPr sz="1800" b="1">
                <a:solidFill>
                  <a:srgbClr val="5A9BE8"/>
                </a:solidFill>
                <a:latin typeface="Helvetica Neue"/>
              </a:rPr>
              <a:t>LIVE NOTEBOOK</a:t>
            </a:r>
          </a:p>
        </p:txBody>
      </p:sp>
      <p:sp>
        <p:nvSpPr>
          <p:cNvPr id="3" name="TextBox 2"/>
          <p:cNvSpPr txBox="1"/>
          <p:nvPr/>
        </p:nvSpPr>
        <p:spPr>
          <a:xfrm>
            <a:off x="822960" y="2377440"/>
            <a:ext cx="10515600" cy="1097280"/>
          </a:xfrm>
          <a:prstGeom prst="rect">
            <a:avLst/>
          </a:prstGeom>
          <a:noFill/>
        </p:spPr>
        <p:txBody>
          <a:bodyPr wrap="square">
            <a:spAutoFit/>
          </a:bodyPr>
          <a:lstStyle/>
          <a:p>
            <a:r>
              <a:rPr sz="3800" b="1">
                <a:solidFill>
                  <a:srgbClr val="FFFFFF"/>
                </a:solidFill>
                <a:latin typeface="Helvetica Neue"/>
              </a:rPr>
              <a:t>Demo: cohorts of real users</a:t>
            </a:r>
          </a:p>
        </p:txBody>
      </p:sp>
      <p:sp>
        <p:nvSpPr>
          <p:cNvPr id="4" name="TextBox 3"/>
          <p:cNvSpPr txBox="1"/>
          <p:nvPr/>
        </p:nvSpPr>
        <p:spPr>
          <a:xfrm>
            <a:off x="822960" y="3749039"/>
            <a:ext cx="10515600" cy="1828800"/>
          </a:xfrm>
          <a:prstGeom prst="rect">
            <a:avLst/>
          </a:prstGeom>
          <a:noFill/>
        </p:spPr>
        <p:txBody>
          <a:bodyPr wrap="square">
            <a:spAutoFit/>
          </a:bodyPr>
          <a:lstStyle/>
          <a:p>
            <a:pPr>
              <a:spcAft>
                <a:spcPts val="1200"/>
              </a:spcAft>
            </a:pPr>
            <a:r>
              <a:rPr sz="2200" b="0">
                <a:solidFill>
                  <a:srgbClr val="B8C2D4"/>
                </a:solidFill>
                <a:latin typeface="Helvetica Neue"/>
              </a:rPr>
              <a:t>Notebook section 11</a:t>
            </a:r>
          </a:p>
          <a:p>
            <a:pPr>
              <a:spcAft>
                <a:spcPts val="1200"/>
              </a:spcAft>
            </a:pPr>
            <a:r>
              <a:rPr sz="2200" b="0">
                <a:solidFill>
                  <a:srgbClr val="B8C2D4"/>
                </a:solidFill>
                <a:latin typeface="Helvetica Neue"/>
              </a:rPr>
              <a:t>480 real WANDS queries, grouped into 5 cohorts</a:t>
            </a:r>
          </a:p>
          <a:p>
            <a:pPr>
              <a:spcAft>
                <a:spcPts val="1200"/>
              </a:spcAft>
            </a:pPr>
            <a:r>
              <a:rPr sz="2200" b="0">
                <a:solidFill>
                  <a:srgbClr val="B8C2D4"/>
                </a:solidFill>
                <a:latin typeface="Helvetica Neue"/>
              </a:rPr>
              <a:t>Every user privatizes independently, on their own device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Individuals hide. The crowd does not.</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1523847" y="2103120"/>
          <a:ext cx="9144000" cy="3401568"/>
        </p:xfrm>
        <a:graphic>
          <a:graphicData uri="http://schemas.openxmlformats.org/drawingml/2006/table">
            <a:tbl>
              <a:tblPr firstRow="1" bandRow="1">
                <a:tableStyleId>{5C22544A-7EE6-4342-B048-85BDC9FD1C3A}</a:tableStyleId>
              </a:tblPr>
              <a:tblGrid>
                <a:gridCol w="2286000"/>
                <a:gridCol w="2286000"/>
                <a:gridCol w="2286000"/>
                <a:gridCol w="2286000"/>
              </a:tblGrid>
              <a:tr h="566928">
                <a:tc>
                  <a:txBody>
                    <a:bodyPr/>
                    <a:lstStyle/>
                    <a:p>
                      <a:pPr algn="l"/>
                      <a:r>
                        <a:rPr sz="1800" b="1">
                          <a:solidFill>
                            <a:srgbClr val="FFFFFF"/>
                          </a:solidFill>
                          <a:latin typeface="Helvetica Neue"/>
                        </a:rPr>
                        <a:t>cohort</a:t>
                      </a:r>
                    </a:p>
                  </a:txBody>
                  <a:tcPr anchor="ctr">
                    <a:solidFill>
                      <a:srgbClr val="005EB8"/>
                    </a:solidFill>
                  </a:tcPr>
                </a:tc>
                <a:tc>
                  <a:txBody>
                    <a:bodyPr/>
                    <a:lstStyle/>
                    <a:p>
                      <a:pPr algn="ctr"/>
                      <a:r>
                        <a:rPr sz="1800" b="1">
                          <a:solidFill>
                            <a:srgbClr val="FFFFFF"/>
                          </a:solidFill>
                          <a:latin typeface="Helvetica Neue"/>
                        </a:rPr>
                        <a:t>individual</a:t>
                      </a:r>
                    </a:p>
                  </a:txBody>
                  <a:tcPr anchor="ctr">
                    <a:solidFill>
                      <a:srgbClr val="005EB8"/>
                    </a:solidFill>
                  </a:tcPr>
                </a:tc>
                <a:tc>
                  <a:txBody>
                    <a:bodyPr/>
                    <a:lstStyle/>
                    <a:p>
                      <a:pPr algn="ctr"/>
                      <a:r>
                        <a:rPr sz="1800" b="1">
                          <a:solidFill>
                            <a:srgbClr val="FFFFFF"/>
                          </a:solidFill>
                          <a:latin typeface="Helvetica Neue"/>
                        </a:rPr>
                        <a:t>chance</a:t>
                      </a:r>
                    </a:p>
                  </a:txBody>
                  <a:tcPr anchor="ctr">
                    <a:solidFill>
                      <a:srgbClr val="005EB8"/>
                    </a:solidFill>
                  </a:tcPr>
                </a:tc>
                <a:tc>
                  <a:txBody>
                    <a:bodyPr/>
                    <a:lstStyle/>
                    <a:p>
                      <a:pPr algn="ctr"/>
                      <a:r>
                        <a:rPr sz="1800" b="1">
                          <a:solidFill>
                            <a:srgbClr val="FFFFFF"/>
                          </a:solidFill>
                          <a:latin typeface="Helvetica Neue"/>
                        </a:rPr>
                        <a:t>cohort ID</a:t>
                      </a:r>
                    </a:p>
                  </a:txBody>
                  <a:tcPr anchor="ctr">
                    <a:solidFill>
                      <a:srgbClr val="005EB8"/>
                    </a:solidFill>
                  </a:tcPr>
                </a:tc>
              </a:tr>
              <a:tr h="566928">
                <a:tc>
                  <a:txBody>
                    <a:bodyPr/>
                    <a:lstStyle/>
                    <a:p>
                      <a:pPr algn="l"/>
                      <a:r>
                        <a:rPr sz="1800" b="0">
                          <a:solidFill>
                            <a:srgbClr val="141B2D"/>
                          </a:solidFill>
                          <a:latin typeface="Helvetica Neue"/>
                        </a:rPr>
                        <a:t>Wall Art</a:t>
                      </a:r>
                    </a:p>
                  </a:txBody>
                  <a:tcPr anchor="ctr">
                    <a:solidFill>
                      <a:srgbClr val="F4F7FB"/>
                    </a:solidFill>
                  </a:tcPr>
                </a:tc>
                <a:tc>
                  <a:txBody>
                    <a:bodyPr/>
                    <a:lstStyle/>
                    <a:p>
                      <a:pPr algn="ctr"/>
                      <a:r>
                        <a:rPr sz="1800" b="0">
                          <a:solidFill>
                            <a:srgbClr val="141B2D"/>
                          </a:solidFill>
                          <a:latin typeface="Helvetica Neue"/>
                        </a:rPr>
                        <a:t>0.020</a:t>
                      </a:r>
                    </a:p>
                  </a:txBody>
                  <a:tcPr anchor="ctr">
                    <a:solidFill>
                      <a:srgbClr val="F4F7FB"/>
                    </a:solidFill>
                  </a:tcPr>
                </a:tc>
                <a:tc>
                  <a:txBody>
                    <a:bodyPr/>
                    <a:lstStyle/>
                    <a:p>
                      <a:pPr algn="ctr"/>
                      <a:r>
                        <a:rPr sz="1800" b="0">
                          <a:solidFill>
                            <a:srgbClr val="141B2D"/>
                          </a:solidFill>
                          <a:latin typeface="Helvetica Neue"/>
                        </a:rPr>
                        <a:t>0.014</a:t>
                      </a:r>
                    </a:p>
                  </a:txBody>
                  <a:tcPr anchor="ctr">
                    <a:solidFill>
                      <a:srgbClr val="F4F7FB"/>
                    </a:solidFill>
                  </a:tcPr>
                </a:tc>
                <a:tc>
                  <a:txBody>
                    <a:bodyPr/>
                    <a:lstStyle/>
                    <a:p>
                      <a:pPr algn="ctr"/>
                      <a:r>
                        <a:rPr sz="1800" b="0">
                          <a:solidFill>
                            <a:srgbClr val="141B2D"/>
                          </a:solidFill>
                          <a:latin typeface="Helvetica Neue"/>
                        </a:rPr>
                        <a:t>OK</a:t>
                      </a:r>
                    </a:p>
                  </a:txBody>
                  <a:tcPr anchor="ctr">
                    <a:solidFill>
                      <a:srgbClr val="F4F7FB"/>
                    </a:solidFill>
                  </a:tcPr>
                </a:tc>
              </a:tr>
              <a:tr h="566928">
                <a:tc>
                  <a:txBody>
                    <a:bodyPr/>
                    <a:lstStyle/>
                    <a:p>
                      <a:pPr algn="l"/>
                      <a:r>
                        <a:rPr sz="1800" b="0">
                          <a:solidFill>
                            <a:srgbClr val="141B2D"/>
                          </a:solidFill>
                          <a:latin typeface="Helvetica Neue"/>
                        </a:rPr>
                        <a:t>Accent Chairs</a:t>
                      </a:r>
                    </a:p>
                  </a:txBody>
                  <a:tcPr anchor="ctr">
                    <a:solidFill>
                      <a:srgbClr val="FFFFFF"/>
                    </a:solidFill>
                  </a:tcPr>
                </a:tc>
                <a:tc>
                  <a:txBody>
                    <a:bodyPr/>
                    <a:lstStyle/>
                    <a:p>
                      <a:pPr algn="ctr"/>
                      <a:r>
                        <a:rPr sz="1800" b="0">
                          <a:solidFill>
                            <a:srgbClr val="141B2D"/>
                          </a:solidFill>
                          <a:latin typeface="Helvetica Neue"/>
                        </a:rPr>
                        <a:t>0.020</a:t>
                      </a:r>
                    </a:p>
                  </a:txBody>
                  <a:tcPr anchor="ctr">
                    <a:solidFill>
                      <a:srgbClr val="FFFFFF"/>
                    </a:solidFill>
                  </a:tcPr>
                </a:tc>
                <a:tc>
                  <a:txBody>
                    <a:bodyPr/>
                    <a:lstStyle/>
                    <a:p>
                      <a:pPr algn="ctr"/>
                      <a:r>
                        <a:rPr sz="1800" b="0">
                          <a:solidFill>
                            <a:srgbClr val="141B2D"/>
                          </a:solidFill>
                          <a:latin typeface="Helvetica Neue"/>
                        </a:rPr>
                        <a:t>0.027</a:t>
                      </a:r>
                    </a:p>
                  </a:txBody>
                  <a:tcPr anchor="ctr">
                    <a:solidFill>
                      <a:srgbClr val="FFFFFF"/>
                    </a:solidFill>
                  </a:tcPr>
                </a:tc>
                <a:tc>
                  <a:txBody>
                    <a:bodyPr/>
                    <a:lstStyle/>
                    <a:p>
                      <a:pPr algn="ctr"/>
                      <a:r>
                        <a:rPr sz="1800" b="0">
                          <a:solidFill>
                            <a:srgbClr val="141B2D"/>
                          </a:solidFill>
                          <a:latin typeface="Helvetica Neue"/>
                        </a:rPr>
                        <a:t>OK</a:t>
                      </a:r>
                    </a:p>
                  </a:txBody>
                  <a:tcPr anchor="ctr">
                    <a:solidFill>
                      <a:srgbClr val="FFFFFF"/>
                    </a:solidFill>
                  </a:tcPr>
                </a:tc>
              </a:tr>
              <a:tr h="566928">
                <a:tc>
                  <a:txBody>
                    <a:bodyPr/>
                    <a:lstStyle/>
                    <a:p>
                      <a:pPr algn="l"/>
                      <a:r>
                        <a:rPr sz="1800" b="0">
                          <a:solidFill>
                            <a:srgbClr val="141B2D"/>
                          </a:solidFill>
                          <a:latin typeface="Helvetica Neue"/>
                        </a:rPr>
                        <a:t>Beds</a:t>
                      </a:r>
                    </a:p>
                  </a:txBody>
                  <a:tcPr anchor="ctr">
                    <a:solidFill>
                      <a:srgbClr val="F4F7FB"/>
                    </a:solidFill>
                  </a:tcPr>
                </a:tc>
                <a:tc>
                  <a:txBody>
                    <a:bodyPr/>
                    <a:lstStyle/>
                    <a:p>
                      <a:pPr algn="ctr"/>
                      <a:r>
                        <a:rPr sz="1800" b="0">
                          <a:solidFill>
                            <a:srgbClr val="141B2D"/>
                          </a:solidFill>
                          <a:latin typeface="Helvetica Neue"/>
                        </a:rPr>
                        <a:t>0.063</a:t>
                      </a:r>
                    </a:p>
                  </a:txBody>
                  <a:tcPr anchor="ctr">
                    <a:solidFill>
                      <a:srgbClr val="F4F7FB"/>
                    </a:solidFill>
                  </a:tcPr>
                </a:tc>
                <a:tc>
                  <a:txBody>
                    <a:bodyPr/>
                    <a:lstStyle/>
                    <a:p>
                      <a:pPr algn="ctr"/>
                      <a:r>
                        <a:rPr sz="1800" b="0">
                          <a:solidFill>
                            <a:srgbClr val="141B2D"/>
                          </a:solidFill>
                          <a:latin typeface="Helvetica Neue"/>
                        </a:rPr>
                        <a:t>0.026</a:t>
                      </a:r>
                    </a:p>
                  </a:txBody>
                  <a:tcPr anchor="ctr">
                    <a:solidFill>
                      <a:srgbClr val="F4F7FB"/>
                    </a:solidFill>
                  </a:tcPr>
                </a:tc>
                <a:tc>
                  <a:txBody>
                    <a:bodyPr/>
                    <a:lstStyle/>
                    <a:p>
                      <a:pPr algn="ctr"/>
                      <a:r>
                        <a:rPr sz="1800" b="0">
                          <a:solidFill>
                            <a:srgbClr val="141B2D"/>
                          </a:solidFill>
                          <a:latin typeface="Helvetica Neue"/>
                        </a:rPr>
                        <a:t>OK</a:t>
                      </a:r>
                    </a:p>
                  </a:txBody>
                  <a:tcPr anchor="ctr">
                    <a:solidFill>
                      <a:srgbClr val="F4F7FB"/>
                    </a:solidFill>
                  </a:tcPr>
                </a:tc>
              </a:tr>
              <a:tr h="566928">
                <a:tc>
                  <a:txBody>
                    <a:bodyPr/>
                    <a:lstStyle/>
                    <a:p>
                      <a:pPr algn="l"/>
                      <a:r>
                        <a:rPr sz="1800" b="0">
                          <a:solidFill>
                            <a:srgbClr val="141B2D"/>
                          </a:solidFill>
                          <a:latin typeface="Helvetica Neue"/>
                        </a:rPr>
                        <a:t>Area Rugs</a:t>
                      </a:r>
                    </a:p>
                  </a:txBody>
                  <a:tcPr anchor="ctr">
                    <a:solidFill>
                      <a:srgbClr val="FFFFFF"/>
                    </a:solidFill>
                  </a:tcPr>
                </a:tc>
                <a:tc>
                  <a:txBody>
                    <a:bodyPr/>
                    <a:lstStyle/>
                    <a:p>
                      <a:pPr algn="ctr"/>
                      <a:r>
                        <a:rPr sz="1800" b="0">
                          <a:solidFill>
                            <a:srgbClr val="141B2D"/>
                          </a:solidFill>
                          <a:latin typeface="Helvetica Neue"/>
                        </a:rPr>
                        <a:t>0.070</a:t>
                      </a:r>
                    </a:p>
                  </a:txBody>
                  <a:tcPr anchor="ctr">
                    <a:solidFill>
                      <a:srgbClr val="FFFFFF"/>
                    </a:solidFill>
                  </a:tcPr>
                </a:tc>
                <a:tc>
                  <a:txBody>
                    <a:bodyPr/>
                    <a:lstStyle/>
                    <a:p>
                      <a:pPr algn="ctr"/>
                      <a:r>
                        <a:rPr sz="1800" b="0">
                          <a:solidFill>
                            <a:srgbClr val="141B2D"/>
                          </a:solidFill>
                          <a:latin typeface="Helvetica Neue"/>
                        </a:rPr>
                        <a:t>0.031</a:t>
                      </a:r>
                    </a:p>
                  </a:txBody>
                  <a:tcPr anchor="ctr">
                    <a:solidFill>
                      <a:srgbClr val="FFFFFF"/>
                    </a:solidFill>
                  </a:tcPr>
                </a:tc>
                <a:tc>
                  <a:txBody>
                    <a:bodyPr/>
                    <a:lstStyle/>
                    <a:p>
                      <a:pPr algn="ctr"/>
                      <a:r>
                        <a:rPr sz="1800" b="0">
                          <a:solidFill>
                            <a:srgbClr val="141B2D"/>
                          </a:solidFill>
                          <a:latin typeface="Helvetica Neue"/>
                        </a:rPr>
                        <a:t>OK</a:t>
                      </a:r>
                    </a:p>
                  </a:txBody>
                  <a:tcPr anchor="ctr">
                    <a:solidFill>
                      <a:srgbClr val="FFFFFF"/>
                    </a:solidFill>
                  </a:tcPr>
                </a:tc>
              </a:tr>
              <a:tr h="566928">
                <a:tc>
                  <a:txBody>
                    <a:bodyPr/>
                    <a:lstStyle/>
                    <a:p>
                      <a:pPr algn="l"/>
                      <a:r>
                        <a:rPr sz="1800" b="0">
                          <a:solidFill>
                            <a:srgbClr val="141B2D"/>
                          </a:solidFill>
                          <a:latin typeface="Helvetica Neue"/>
                        </a:rPr>
                        <a:t>Coffee &amp; Cocktail Tables</a:t>
                      </a:r>
                    </a:p>
                  </a:txBody>
                  <a:tcPr anchor="ctr">
                    <a:solidFill>
                      <a:srgbClr val="F4F7FB"/>
                    </a:solidFill>
                  </a:tcPr>
                </a:tc>
                <a:tc>
                  <a:txBody>
                    <a:bodyPr/>
                    <a:lstStyle/>
                    <a:p>
                      <a:pPr algn="ctr"/>
                      <a:r>
                        <a:rPr sz="1800" b="0">
                          <a:solidFill>
                            <a:srgbClr val="141B2D"/>
                          </a:solidFill>
                          <a:latin typeface="Helvetica Neue"/>
                        </a:rPr>
                        <a:t>0.030</a:t>
                      </a:r>
                    </a:p>
                  </a:txBody>
                  <a:tcPr anchor="ctr">
                    <a:solidFill>
                      <a:srgbClr val="F4F7FB"/>
                    </a:solidFill>
                  </a:tcPr>
                </a:tc>
                <a:tc>
                  <a:txBody>
                    <a:bodyPr/>
                    <a:lstStyle/>
                    <a:p>
                      <a:pPr algn="ctr"/>
                      <a:r>
                        <a:rPr sz="1800" b="0">
                          <a:solidFill>
                            <a:srgbClr val="141B2D"/>
                          </a:solidFill>
                          <a:latin typeface="Helvetica Neue"/>
                        </a:rPr>
                        <a:t>0.025</a:t>
                      </a:r>
                    </a:p>
                  </a:txBody>
                  <a:tcPr anchor="ctr">
                    <a:solidFill>
                      <a:srgbClr val="F4F7FB"/>
                    </a:solidFill>
                  </a:tcPr>
                </a:tc>
                <a:tc>
                  <a:txBody>
                    <a:bodyPr/>
                    <a:lstStyle/>
                    <a:p>
                      <a:pPr algn="ctr"/>
                      <a:r>
                        <a:rPr sz="1800" b="0">
                          <a:solidFill>
                            <a:srgbClr val="141B2D"/>
                          </a:solidFill>
                          <a:latin typeface="Helvetica Neue"/>
                        </a:rPr>
                        <a:t>OK</a:t>
                      </a:r>
                    </a:p>
                  </a:txBody>
                  <a:tcPr anchor="ctr">
                    <a:solidFill>
                      <a:srgbClr val="F4F7FB"/>
                    </a:solidFill>
                  </a:tcPr>
                </a:tc>
              </a:tr>
            </a:tbl>
          </a:graphicData>
        </a:graphic>
      </p:graphicFrame>
      <p:sp>
        <p:nvSpPr>
          <p:cNvPr id="5" name="TextBox 4"/>
          <p:cNvSpPr txBox="1"/>
          <p:nvPr/>
        </p:nvSpPr>
        <p:spPr>
          <a:xfrm>
            <a:off x="822960" y="5943600"/>
            <a:ext cx="10515600" cy="640080"/>
          </a:xfrm>
          <a:prstGeom prst="rect">
            <a:avLst/>
          </a:prstGeom>
          <a:noFill/>
        </p:spPr>
        <p:txBody>
          <a:bodyPr wrap="square">
            <a:spAutoFit/>
          </a:bodyPr>
          <a:lstStyle/>
          <a:p>
            <a:pPr algn="ctr"/>
            <a:r>
              <a:rPr sz="1500" b="0">
                <a:solidFill>
                  <a:srgbClr val="5A647A"/>
                </a:solidFill>
                <a:latin typeface="Helvetica Neue"/>
              </a:rPr>
              <a:t>epsilon 1.0, heavier noise than anything in Act 4. 20,000 users per cohort. 5 of 5 recovered.</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Error falls as 1 / sqrt(n), exactly as theory says</a:t>
            </a:r>
          </a:p>
        </p:txBody>
      </p:sp>
      <p:pic>
        <p:nvPicPr>
          <p:cNvPr id="3" name="Picture 2" descr="11_aggregate_convergence.png"/>
          <p:cNvPicPr>
            <a:picLocks noChangeAspect="1"/>
          </p:cNvPicPr>
          <p:nvPr/>
        </p:nvPicPr>
        <p:blipFill>
          <a:blip r:embed="rId2"/>
          <a:stretch>
            <a:fillRect/>
          </a:stretch>
        </p:blipFill>
        <p:spPr>
          <a:xfrm>
            <a:off x="2459464" y="1417320"/>
            <a:ext cx="7272767" cy="4343400"/>
          </a:xfrm>
          <a:prstGeom prst="rect">
            <a:avLst/>
          </a:prstGeom>
        </p:spPr>
      </p:pic>
      <p:sp>
        <p:nvSpPr>
          <p:cNvPr id="4" name="TextBox 3"/>
          <p:cNvSpPr txBox="1"/>
          <p:nvPr/>
        </p:nvSpPr>
        <p:spPr>
          <a:xfrm>
            <a:off x="822960" y="5989320"/>
            <a:ext cx="10515600" cy="640080"/>
          </a:xfrm>
          <a:prstGeom prst="rect">
            <a:avLst/>
          </a:prstGeom>
          <a:noFill/>
        </p:spPr>
        <p:txBody>
          <a:bodyPr wrap="square">
            <a:spAutoFit/>
          </a:bodyPr>
          <a:lstStyle/>
          <a:p>
            <a:pPr algn="ctr"/>
            <a:r>
              <a:rPr sz="1600" b="0">
                <a:solidFill>
                  <a:srgbClr val="5A647A"/>
                </a:solidFill>
                <a:latin typeface="Helvetica Neue"/>
              </a:rPr>
              <a:t>Doubling the privacy budget is expensive. Four times the users is free.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number to take home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Error drops below the spread of the index at roughly 2,500 users</a:t>
            </a:r>
          </a:p>
          <a:p>
            <a:pPr marL="342900" indent="-342900">
              <a:spcAft>
                <a:spcPts val="2000"/>
              </a:spcAft>
            </a:pPr>
            <a:r>
              <a:rPr sz="2400" b="1">
                <a:solidFill>
                  <a:srgbClr val="005EB8"/>
                </a:solidFill>
                <a:latin typeface="Helvetica Neue"/>
              </a:rPr>
              <a:t>-   </a:t>
            </a:r>
            <a:r>
              <a:rPr sz="2400" b="0">
                <a:solidFill>
                  <a:srgbClr val="141B2D"/>
                </a:solidFill>
                <a:latin typeface="Helvetica Neue"/>
              </a:rPr>
              <a:t>Segments with thousands of users are measurable under LDP</a:t>
            </a:r>
          </a:p>
          <a:p>
            <a:pPr marL="342900" indent="-342900">
              <a:spcAft>
                <a:spcPts val="2000"/>
              </a:spcAft>
            </a:pPr>
            <a:r>
              <a:rPr sz="2400" b="1">
                <a:solidFill>
                  <a:srgbClr val="005EB8"/>
                </a:solidFill>
                <a:latin typeface="Helvetica Neue"/>
              </a:rPr>
              <a:t>-   </a:t>
            </a:r>
            <a:r>
              <a:rPr sz="2400" b="0">
                <a:solidFill>
                  <a:srgbClr val="141B2D"/>
                </a:solidFill>
                <a:latin typeface="Helvetica Neue"/>
              </a:rPr>
              <a:t>Segments with dozens are not</a:t>
            </a:r>
          </a:p>
          <a:p>
            <a:pPr marL="342900" indent="-342900">
              <a:spcAft>
                <a:spcPts val="2000"/>
              </a:spcAft>
            </a:pPr>
            <a:r>
              <a:rPr sz="2400" b="1">
                <a:solidFill>
                  <a:srgbClr val="005EB8"/>
                </a:solidFill>
                <a:latin typeface="Helvetica Neue"/>
              </a:rPr>
              <a:t>-   </a:t>
            </a:r>
            <a:r>
              <a:rPr sz="2400" b="0">
                <a:solidFill>
                  <a:srgbClr val="141B2D"/>
                </a:solidFill>
                <a:latin typeface="Helvetica Neue"/>
              </a:rPr>
              <a:t>Your head terms work. Your long tail does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 y="2286000"/>
            <a:ext cx="10149840" cy="2377440"/>
          </a:xfrm>
          <a:prstGeom prst="rect">
            <a:avLst/>
          </a:prstGeom>
          <a:noFill/>
        </p:spPr>
        <p:txBody>
          <a:bodyPr wrap="square">
            <a:spAutoFit/>
          </a:bodyPr>
          <a:lstStyle/>
          <a:p>
            <a:pPr>
              <a:spcAft>
                <a:spcPts val="1600"/>
              </a:spcAft>
            </a:pPr>
            <a:r>
              <a:rPr sz="3400" b="1">
                <a:solidFill>
                  <a:srgbClr val="141B2D"/>
                </a:solidFill>
                <a:latin typeface="Helvetica Neue"/>
              </a:rPr>
              <a:t>LDP does not cost you your analytics.</a:t>
            </a:r>
          </a:p>
          <a:p>
            <a:pPr>
              <a:spcAft>
                <a:spcPts val="1600"/>
              </a:spcAft>
            </a:pPr>
            <a:r>
              <a:rPr sz="3400" b="0">
                <a:solidFill>
                  <a:srgbClr val="005EB8"/>
                </a:solidFill>
                <a:latin typeface="Helvetica Neue"/>
              </a:rPr>
              <a:t>It costs you the ability to ask about one person.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ACT 6</a:t>
            </a:r>
          </a:p>
          <a:p>
            <a:pPr>
              <a:spcBef>
                <a:spcPts val="1000"/>
              </a:spcBef>
            </a:pPr>
            <a:r>
              <a:rPr sz="4200" b="1">
                <a:solidFill>
                  <a:srgbClr val="FFFFFF"/>
                </a:solidFill>
                <a:latin typeface="Helvetica Neue"/>
              </a:rPr>
              <a:t>Back to OpenSearch, and the limits</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Where the noise gets injected</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In ubi.js, on the device, before the event is sent</a:t>
            </a:r>
          </a:p>
          <a:p>
            <a:pPr marL="342900" indent="-342900">
              <a:spcAft>
                <a:spcPts val="2000"/>
              </a:spcAft>
            </a:pPr>
            <a:r>
              <a:rPr sz="2400" b="1">
                <a:solidFill>
                  <a:srgbClr val="005EB8"/>
                </a:solidFill>
                <a:latin typeface="Helvetica Neue"/>
              </a:rPr>
              <a:t>-   </a:t>
            </a:r>
            <a:r>
              <a:rPr sz="2400" b="0">
                <a:solidFill>
                  <a:srgbClr val="141B2D"/>
                </a:solidFill>
                <a:latin typeface="Helvetica Neue"/>
              </a:rPr>
              <a:t>The cluster stores noised vectors and never sees the raw query</a:t>
            </a:r>
          </a:p>
          <a:p>
            <a:pPr marL="342900" indent="-342900">
              <a:spcAft>
                <a:spcPts val="2000"/>
              </a:spcAft>
            </a:pPr>
            <a:r>
              <a:rPr sz="2400" b="1">
                <a:solidFill>
                  <a:srgbClr val="005EB8"/>
                </a:solidFill>
                <a:latin typeface="Helvetica Neue"/>
              </a:rPr>
              <a:t>-   </a:t>
            </a:r>
            <a:r>
              <a:rPr sz="2400" b="0">
                <a:solidFill>
                  <a:srgbClr val="141B2D"/>
                </a:solidFill>
                <a:latin typeface="Helvetica Neue"/>
              </a:rPr>
              <a:t>Aggregation happens at query time over the noised data</a:t>
            </a:r>
          </a:p>
          <a:p>
            <a:pPr marL="342900" indent="-342900">
              <a:spcAft>
                <a:spcPts val="2000"/>
              </a:spcAft>
            </a:pPr>
            <a:r>
              <a:rPr sz="2400" b="1">
                <a:solidFill>
                  <a:srgbClr val="005EB8"/>
                </a:solidFill>
                <a:latin typeface="Helvetica Neue"/>
              </a:rPr>
              <a:t>-   </a:t>
            </a:r>
            <a:r>
              <a:rPr sz="2400" b="0">
                <a:solidFill>
                  <a:srgbClr val="141B2D"/>
                </a:solidFill>
                <a:latin typeface="Helvetica Neue"/>
              </a:rPr>
              <a:t>Nothing downstream needs to be trusted, because nothing downstream has the original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What your dashboards can still compute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Aggregate query intent per segment</a:t>
            </a:r>
          </a:p>
          <a:p>
            <a:pPr marL="342900" indent="-342900">
              <a:spcAft>
                <a:spcPts val="2000"/>
              </a:spcAft>
            </a:pPr>
            <a:r>
              <a:rPr sz="2400" b="1">
                <a:solidFill>
                  <a:srgbClr val="005EB8"/>
                </a:solidFill>
                <a:latin typeface="Helvetica Neue"/>
              </a:rPr>
              <a:t>-   </a:t>
            </a:r>
            <a:r>
              <a:rPr sz="2400" b="0">
                <a:solidFill>
                  <a:srgbClr val="141B2D"/>
                </a:solidFill>
                <a:latin typeface="Helvetica Neue"/>
              </a:rPr>
              <a:t>Demand trends and shifts over time</a:t>
            </a:r>
          </a:p>
          <a:p>
            <a:pPr marL="342900" indent="-342900">
              <a:spcAft>
                <a:spcPts val="2000"/>
              </a:spcAft>
            </a:pPr>
            <a:r>
              <a:rPr sz="2400" b="1">
                <a:solidFill>
                  <a:srgbClr val="005EB8"/>
                </a:solidFill>
                <a:latin typeface="Helvetica Neue"/>
              </a:rPr>
              <a:t>-   </a:t>
            </a:r>
            <a:r>
              <a:rPr sz="2400" b="0">
                <a:solidFill>
                  <a:srgbClr val="141B2D"/>
                </a:solidFill>
                <a:latin typeface="Helvetica Neue"/>
              </a:rPr>
              <a:t>Cohort-level training signal for learning-to-rank</a:t>
            </a:r>
          </a:p>
          <a:p>
            <a:pPr marL="342900" indent="-342900">
              <a:spcAft>
                <a:spcPts val="2000"/>
              </a:spcAft>
            </a:pPr>
            <a:r>
              <a:rPr sz="2400" b="1">
                <a:solidFill>
                  <a:srgbClr val="005EB8"/>
                </a:solidFill>
                <a:latin typeface="Helvetica Neue"/>
              </a:rPr>
              <a:t>-   </a:t>
            </a:r>
            <a:r>
              <a:rPr sz="2400" b="0">
                <a:solidFill>
                  <a:srgbClr val="141B2D"/>
                </a:solidFill>
                <a:latin typeface="Helvetica Neue"/>
              </a:rPr>
              <a:t>What they cannot do is show you one user's session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limits, stated plainly</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The category leaks. Harmless for furniture, maybe not for a medical corpus</a:t>
            </a:r>
          </a:p>
          <a:p>
            <a:pPr marL="342900" indent="-342900">
              <a:spcAft>
                <a:spcPts val="2000"/>
              </a:spcAft>
            </a:pPr>
            <a:r>
              <a:rPr sz="2400" b="1">
                <a:solidFill>
                  <a:srgbClr val="B4311A"/>
                </a:solidFill>
                <a:latin typeface="Helvetica Neue"/>
              </a:rPr>
              <a:t>-   </a:t>
            </a:r>
            <a:r>
              <a:rPr sz="2400" b="0">
                <a:solidFill>
                  <a:srgbClr val="141B2D"/>
                </a:solidFill>
                <a:latin typeface="Helvetica Neue"/>
              </a:rPr>
              <a:t>Epsilon does not transfer between indexes. It depends on coordinate spread</a:t>
            </a:r>
          </a:p>
          <a:p>
            <a:pPr marL="342900" indent="-342900">
              <a:spcAft>
                <a:spcPts val="2000"/>
              </a:spcAft>
            </a:pPr>
            <a:r>
              <a:rPr sz="2400" b="1">
                <a:solidFill>
                  <a:srgbClr val="B4311A"/>
                </a:solidFill>
                <a:latin typeface="Helvetica Neue"/>
              </a:rPr>
              <a:t>-   </a:t>
            </a:r>
            <a:r>
              <a:rPr sz="2400" b="0">
                <a:solidFill>
                  <a:srgbClr val="141B2D"/>
                </a:solidFill>
                <a:latin typeface="Helvetica Neue"/>
              </a:rPr>
              <a:t>Low-traffic segments stay unmeasurable</a:t>
            </a:r>
          </a:p>
          <a:p>
            <a:pPr marL="342900" indent="-342900">
              <a:spcAft>
                <a:spcPts val="2000"/>
              </a:spcAft>
            </a:pPr>
            <a:r>
              <a:rPr sz="2400" b="1">
                <a:solidFill>
                  <a:srgbClr val="B4311A"/>
                </a:solidFill>
                <a:latin typeface="Helvetica Neue"/>
              </a:rPr>
              <a:t>-   </a:t>
            </a:r>
            <a:r>
              <a:rPr sz="2400" b="0">
                <a:solidFill>
                  <a:srgbClr val="141B2D"/>
                </a:solidFill>
                <a:latin typeface="Helvetica Neue"/>
              </a:rPr>
              <a:t>Clicks are counts, not vectors, and want randomized response instead</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Takeaways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Storing embeddings instead of text is not privacy</a:t>
            </a:r>
          </a:p>
          <a:p>
            <a:pPr marL="342900" indent="-342900">
              <a:spcAft>
                <a:spcPts val="2000"/>
              </a:spcAft>
            </a:pPr>
            <a:r>
              <a:rPr sz="2400" b="1">
                <a:solidFill>
                  <a:srgbClr val="005EB8"/>
                </a:solidFill>
                <a:latin typeface="Helvetica Neue"/>
              </a:rPr>
              <a:t>-   </a:t>
            </a:r>
            <a:r>
              <a:rPr sz="2400" b="0">
                <a:solidFill>
                  <a:srgbClr val="141B2D"/>
                </a:solidFill>
                <a:latin typeface="Helvetica Neue"/>
              </a:rPr>
              <a:t>Noise at the source beats scrubbing after the fact</a:t>
            </a:r>
          </a:p>
          <a:p>
            <a:pPr marL="342900" indent="-342900">
              <a:spcAft>
                <a:spcPts val="2000"/>
              </a:spcAft>
            </a:pPr>
            <a:r>
              <a:rPr sz="2400" b="1">
                <a:solidFill>
                  <a:srgbClr val="005EB8"/>
                </a:solidFill>
                <a:latin typeface="Helvetica Neue"/>
              </a:rPr>
              <a:t>-   </a:t>
            </a:r>
            <a:r>
              <a:rPr sz="2400" b="0">
                <a:solidFill>
                  <a:srgbClr val="141B2D"/>
                </a:solidFill>
                <a:latin typeface="Helvetica Neue"/>
              </a:rPr>
              <a:t>Verify the mechanism by attacking it, not by trusting it</a:t>
            </a:r>
          </a:p>
          <a:p>
            <a:pPr marL="342900" indent="-342900">
              <a:spcAft>
                <a:spcPts val="2000"/>
              </a:spcAft>
            </a:pPr>
            <a:r>
              <a:rPr sz="2400" b="1">
                <a:solidFill>
                  <a:srgbClr val="005EB8"/>
                </a:solidFill>
                <a:latin typeface="Helvetica Neue"/>
              </a:rPr>
              <a:t>-   </a:t>
            </a:r>
            <a:r>
              <a:rPr sz="2400" b="0">
                <a:solidFill>
                  <a:srgbClr val="141B2D"/>
                </a:solidFill>
                <a:latin typeface="Helvetica Neue"/>
              </a:rPr>
              <a:t>You trade individual resolution for population accuracy, and relevance only needs the latter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Questions</a:t>
            </a:r>
          </a:p>
          <a:p>
            <a:pPr>
              <a:spcBef>
                <a:spcPts val="1400"/>
              </a:spcBef>
            </a:pPr>
            <a:r>
              <a:rPr sz="2600" b="0">
                <a:solidFill>
                  <a:srgbClr val="8EB8E8"/>
                </a:solidFill>
                <a:latin typeface="Helvetica Neue"/>
              </a:rPr>
              <a:t>Notebook, data and plots: github.com/jzonthemtn</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San Jose</a:t>
            </a:r>
          </a:p>
          <a:p>
            <a:pPr>
              <a:spcBef>
                <a:spcPts val="100"/>
              </a:spcBef>
            </a:pPr>
            <a:r>
              <a:rPr sz="1500" b="0">
                <a:solidFill>
                  <a:srgbClr val="7C889E"/>
                </a:solidFill>
                <a:latin typeface="Helvetica Neue"/>
              </a:rPr>
              <a:t>September 24, 2026</a:t>
            </a:r>
          </a:p>
        </p:txBody>
      </p:sp>
      <p:sp>
        <p:nvSpPr>
          <p:cNvPr id="4" name="TextBox 3"/>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